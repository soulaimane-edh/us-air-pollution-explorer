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2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3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</p:sldIdLst>
  <p:sldSz cx="18288000" cy="10287000"/>
  <p:notesSz cx="6858000" cy="9144000"/>
  <p:embeddedFontLst>
    <p:embeddedFont>
      <p:font typeface="Codec Pro" charset="1" panose="00000500000000000000"/>
      <p:regular r:id="rId30"/>
    </p:embeddedFont>
    <p:embeddedFont>
      <p:font typeface="Codec Pro Bold" charset="1" panose="00000600000000000000"/>
      <p:regular r:id="rId31"/>
    </p:embeddedFont>
    <p:embeddedFont>
      <p:font typeface="Garet" charset="1" panose="00000000000000000000"/>
      <p:regular r:id="rId35"/>
    </p:embeddedFont>
    <p:embeddedFont>
      <p:font typeface="Alexandria" charset="1" panose="00000000000000000000"/>
      <p:regular r:id="rId3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notesMasters/notesMaster1.xml" Type="http://schemas.openxmlformats.org/officeDocument/2006/relationships/notesMaster"/><Relationship Id="rId33" Target="theme/theme2.xml" Type="http://schemas.openxmlformats.org/officeDocument/2006/relationships/theme"/><Relationship Id="rId34" Target="notesSlides/notesSlide1.xml" Type="http://schemas.openxmlformats.org/officeDocument/2006/relationships/notesSlide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notesSlides/notesSlide2.xml" Type="http://schemas.openxmlformats.org/officeDocument/2006/relationships/notesSlide"/><Relationship Id="rId38" Target="notesSlides/notesSlide3.xml" Type="http://schemas.openxmlformats.org/officeDocument/2006/relationships/notesSlide"/><Relationship Id="rId39" Target="notesSlides/notesSlide4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5.xml" Type="http://schemas.openxmlformats.org/officeDocument/2006/relationships/notesSlide"/><Relationship Id="rId41" Target="notesSlides/notesSlide6.xml" Type="http://schemas.openxmlformats.org/officeDocument/2006/relationships/notesSlide"/><Relationship Id="rId42" Target="notesSlides/notesSlide7.xml" Type="http://schemas.openxmlformats.org/officeDocument/2006/relationships/notesSlide"/><Relationship Id="rId43" Target="notesSlides/notesSlide8.xml" Type="http://schemas.openxmlformats.org/officeDocument/2006/relationships/notesSlide"/><Relationship Id="rId44" Target="notesSlides/notesSlide9.xml" Type="http://schemas.openxmlformats.org/officeDocument/2006/relationships/notesSlide"/><Relationship Id="rId45" Target="notesSlides/notesSlide10.xml" Type="http://schemas.openxmlformats.org/officeDocument/2006/relationships/notesSlide"/><Relationship Id="rId46" Target="notesSlides/notesSlide11.xml" Type="http://schemas.openxmlformats.org/officeDocument/2006/relationships/notesSlide"/><Relationship Id="rId47" Target="notesSlides/notesSlide12.xml" Type="http://schemas.openxmlformats.org/officeDocument/2006/relationships/notesSlide"/><Relationship Id="rId48" Target="notesSlides/notesSlide13.xml" Type="http://schemas.openxmlformats.org/officeDocument/2006/relationships/notesSlide"/><Relationship Id="rId49" Target="notesSlides/notesSlide14.xml" Type="http://schemas.openxmlformats.org/officeDocument/2006/relationships/notesSlide"/><Relationship Id="rId5" Target="tableStyles.xml" Type="http://schemas.openxmlformats.org/officeDocument/2006/relationships/tableStyles"/><Relationship Id="rId50" Target="notesSlides/notesSlide15.xml" Type="http://schemas.openxmlformats.org/officeDocument/2006/relationships/notesSlide"/><Relationship Id="rId51" Target="notesSlides/notesSlide16.xml" Type="http://schemas.openxmlformats.org/officeDocument/2006/relationships/notesSlide"/><Relationship Id="rId52" Target="notesSlides/notesSlide17.xml" Type="http://schemas.openxmlformats.org/officeDocument/2006/relationships/notesSlide"/><Relationship Id="rId53" Target="notesSlides/notesSlide18.xml" Type="http://schemas.openxmlformats.org/officeDocument/2006/relationships/notesSlide"/><Relationship Id="rId54" Target="notesSlides/notesSlide19.xml" Type="http://schemas.openxmlformats.org/officeDocument/2006/relationships/notesSlide"/><Relationship Id="rId55" Target="notesSlides/notesSlide20.xml" Type="http://schemas.openxmlformats.org/officeDocument/2006/relationships/notesSlide"/><Relationship Id="rId56" Target="notesSlides/notesSlide21.xml" Type="http://schemas.openxmlformats.org/officeDocument/2006/relationships/notesSlide"/><Relationship Id="rId57" Target="notesSlides/notesSlide22.xml" Type="http://schemas.openxmlformats.org/officeDocument/2006/relationships/notesSlide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7.xml" Type="http://schemas.openxmlformats.org/officeDocument/2006/relationships/slide"/></Relationships>
</file>

<file path=ppt/notesSlides/_rels/notesSlide1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8.xml" Type="http://schemas.openxmlformats.org/officeDocument/2006/relationships/slide"/></Relationships>
</file>

<file path=ppt/notesSlides/_rels/notesSlide1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9.xml" Type="http://schemas.openxmlformats.org/officeDocument/2006/relationships/slide"/></Relationships>
</file>

<file path=ppt/notesSlides/_rels/notesSlide1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0.xml" Type="http://schemas.openxmlformats.org/officeDocument/2006/relationships/slide"/></Relationships>
</file>

<file path=ppt/notesSlides/_rels/notesSlide2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1.xml" Type="http://schemas.openxmlformats.org/officeDocument/2006/relationships/slide"/></Relationships>
</file>

<file path=ppt/notesSlides/_rels/notesSlide2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2.xml" Type="http://schemas.openxmlformats.org/officeDocument/2006/relationships/slide"/></Relationships>
</file>

<file path=ppt/notesSlides/_rels/notesSlide2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3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Human consciousness is influence by a lot of factor including internal, social or environmental factors </a:t>
            </a:r>
          </a:p>
          <a:p>
            <a:r>
              <a:rPr lang="en-US"/>
              <a:t/>
            </a:r>
          </a:p>
          <a:p>
            <a:r>
              <a:rPr lang="en-US"/>
              <a:t>Linear mixed models extend simple linear regression. it make LMM ideal for analyzing non independent data arising from hierarchical structures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Human consciousness is influence by a lot of factor including internal, social or environmental factors </a:t>
            </a:r>
          </a:p>
          <a:p>
            <a:r>
              <a:rPr lang="en-US"/>
              <a:t/>
            </a:r>
          </a:p>
          <a:p>
            <a:r>
              <a:rPr lang="en-US"/>
              <a:t>Linear mixed models extend simple linear regression. it make LMM ideal for analyzing non independent data arising from hierarchical structures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Human consciousness is influence by a lot of factor including internal, social or environmental factors </a:t>
            </a:r>
          </a:p>
          <a:p>
            <a:r>
              <a:rPr lang="en-US"/>
              <a:t/>
            </a:r>
          </a:p>
          <a:p>
            <a:r>
              <a:rPr lang="en-US"/>
              <a:t>Linear mixed models extend simple linear regression. it make LMM ideal for analyzing non independent data arising from hierarchical structures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Human consciousness is influence by a lot of factor including internal, social or environmental factors </a:t>
            </a:r>
          </a:p>
          <a:p>
            <a:r>
              <a:rPr lang="en-US"/>
              <a:t/>
            </a:r>
          </a:p>
          <a:p>
            <a:r>
              <a:rPr lang="en-US"/>
              <a:t>Linear mixed models extend simple linear regression. it make LMM ideal for analyzing non independent data arising from hierarchical structures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Human consciousness is influence by a lot of factor including internal, social or environmental factors </a:t>
            </a:r>
          </a:p>
          <a:p>
            <a:r>
              <a:rPr lang="en-US"/>
              <a:t/>
            </a:r>
          </a:p>
          <a:p>
            <a:r>
              <a:rPr lang="en-US"/>
              <a:t>Linear mixed models extend simple linear regression. it make LMM ideal for analyzing non independent data arising from hierarchical structures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Human consciousness is influence by a lot of factor including internal, social or environmental factors </a:t>
            </a:r>
          </a:p>
          <a:p>
            <a:r>
              <a:rPr lang="en-US"/>
              <a:t/>
            </a:r>
          </a:p>
          <a:p>
            <a:r>
              <a:rPr lang="en-US"/>
              <a:t>Linear mixed models extend simple linear regression. it make LMM ideal for analyzing non independent data arising from hierarchical structures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Human consciousness is influence by a lot of factor including internal, social or environmental factors </a:t>
            </a:r>
          </a:p>
          <a:p>
            <a:r>
              <a:rPr lang="en-US"/>
              <a:t/>
            </a:r>
          </a:p>
          <a:p>
            <a:r>
              <a:rPr lang="en-US"/>
              <a:t>Linear mixed models extend simple linear regression. it make LMM ideal for analyzing non independent data arising from hierarchical structures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Human consciousness is influence by a lot of factor including internal, social or environmental factors </a:t>
            </a:r>
          </a:p>
          <a:p>
            <a:r>
              <a:rPr lang="en-US"/>
              <a:t/>
            </a:r>
          </a:p>
          <a:p>
            <a:r>
              <a:rPr lang="en-US"/>
              <a:t>Linear mixed models extend simple linear regression. it make LMM ideal for analyzing non independent data arising from hierarchical structures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Human consciousness is influence by a lot of factor including internal, social or environmental factors </a:t>
            </a:r>
          </a:p>
          <a:p>
            <a:r>
              <a:rPr lang="en-US"/>
              <a:t/>
            </a:r>
          </a:p>
          <a:p>
            <a:r>
              <a:rPr lang="en-US"/>
              <a:t>Linear mixed models extend simple linear regression. it make LMM ideal for analyzing non independent data arising from hierarchical structures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Human consciousness is influence by a lot of factor including internal, social or environmental factors </a:t>
            </a:r>
          </a:p>
          <a:p>
            <a:r>
              <a:rPr lang="en-US"/>
              <a:t/>
            </a:r>
          </a:p>
          <a:p>
            <a:r>
              <a:rPr lang="en-US"/>
              <a:t>Linear mixed models extend simple linear regression. it make LMM ideal for analyzing non independent data arising from hierarchical structures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Human consciousness is influence by a lot of factor including internal, social or environmental factors </a:t>
            </a:r>
          </a:p>
          <a:p>
            <a:r>
              <a:rPr lang="en-US"/>
              <a:t/>
            </a:r>
          </a:p>
          <a:p>
            <a:r>
              <a:rPr lang="en-US"/>
              <a:t>Linear mixed models extend simple linear regression. it make LMM ideal for analyzing non independent data arising from hierarchical structures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Human consciousness is influence by a lot of factor including internal, social or environmental factors </a:t>
            </a:r>
          </a:p>
          <a:p>
            <a:r>
              <a:rPr lang="en-US"/>
              <a:t/>
            </a:r>
          </a:p>
          <a:p>
            <a:r>
              <a:rPr lang="en-US"/>
              <a:t>Linear mixed models extend simple linear regression. it make LMM ideal for analyzing non independent data arising from hierarchical structures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Human consciousness is influence by a lot of factor including internal, social or environmental factors </a:t>
            </a:r>
          </a:p>
          <a:p>
            <a:r>
              <a:rPr lang="en-US"/>
              <a:t/>
            </a:r>
          </a:p>
          <a:p>
            <a:r>
              <a:rPr lang="en-US"/>
              <a:t>Linear mixed models extend simple linear regression. it make LMM ideal for analyzing non independent data arising from hierarchical structures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Human consciousness is influence by a lot of factor including internal, social or environmental factors </a:t>
            </a:r>
          </a:p>
          <a:p>
            <a:r>
              <a:rPr lang="en-US"/>
              <a:t/>
            </a:r>
          </a:p>
          <a:p>
            <a:r>
              <a:rPr lang="en-US"/>
              <a:t>Linear mixed models extend simple linear regression. it make LMM ideal for analyzing non independent data arising from hierarchical structures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Human consciousness is influence by a lot of factor including internal, social or environmental factors </a:t>
            </a:r>
          </a:p>
          <a:p>
            <a:r>
              <a:rPr lang="en-US"/>
              <a:t/>
            </a:r>
          </a:p>
          <a:p>
            <a:r>
              <a:rPr lang="en-US"/>
              <a:t>Linear mixed models extend simple linear regression. it make LMM ideal for analyzing non independent data arising from hierarchical structures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Human consciousness is influence by a lot of factor including internal, social or environmental factors </a:t>
            </a:r>
          </a:p>
          <a:p>
            <a:r>
              <a:rPr lang="en-US"/>
              <a:t/>
            </a:r>
          </a:p>
          <a:p>
            <a:r>
              <a:rPr lang="en-US"/>
              <a:t>Linear mixed models extend simple linear regression. it make LMM ideal for analyzing non independent data arising from hierarchical structures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Human consciousness is influence by a lot of factor including internal, social or environmental factors </a:t>
            </a:r>
          </a:p>
          <a:p>
            <a:r>
              <a:rPr lang="en-US"/>
              <a:t/>
            </a:r>
          </a:p>
          <a:p>
            <a:r>
              <a:rPr lang="en-US"/>
              <a:t>Linear mixed models extend simple linear regression. it make LMM ideal for analyzing non independent data arising from hierarchical structures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Human consciousness is influence by a lot of factor including internal, social or environmental factors </a:t>
            </a:r>
          </a:p>
          <a:p>
            <a:r>
              <a:rPr lang="en-US"/>
              <a:t/>
            </a:r>
          </a:p>
          <a:p>
            <a:r>
              <a:rPr lang="en-US"/>
              <a:t>Linear mixed models extend simple linear regression. it make LMM ideal for analyzing non independent data arising from hierarchical structures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Human consciousness is influence by a lot of factor including internal, social or environmental factors </a:t>
            </a:r>
          </a:p>
          <a:p>
            <a:r>
              <a:rPr lang="en-US"/>
              <a:t/>
            </a:r>
          </a:p>
          <a:p>
            <a:r>
              <a:rPr lang="en-US"/>
              <a:t>Linear mixed models extend simple linear regression. it make LMM ideal for analyzing non independent data arising from hierarchical structures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Human consciousness is influence by a lot of factor including internal, social or environmental factors </a:t>
            </a:r>
          </a:p>
          <a:p>
            <a:r>
              <a:rPr lang="en-US"/>
              <a:t/>
            </a:r>
          </a:p>
          <a:p>
            <a:r>
              <a:rPr lang="en-US"/>
              <a:t>Linear mixed models extend simple linear regression. it make LMM ideal for analyzing non independent data arising from hierarchical structures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Human consciousness is influence by a lot of factor including internal, social or environmental factors </a:t>
            </a:r>
          </a:p>
          <a:p>
            <a:r>
              <a:rPr lang="en-US"/>
              <a:t/>
            </a:r>
          </a:p>
          <a:p>
            <a:r>
              <a:rPr lang="en-US"/>
              <a:t>Linear mixed models extend simple linear regression. it make LMM ideal for analyzing non independent data arising from hierarchical structures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Human consciousness is influence by a lot of factor including internal, social or environmental factors </a:t>
            </a:r>
          </a:p>
          <a:p>
            <a:r>
              <a:rPr lang="en-US"/>
              <a:t/>
            </a:r>
          </a:p>
          <a:p>
            <a:r>
              <a:rPr lang="en-US"/>
              <a:t>Linear mixed models extend simple linear regression. it make LMM ideal for analyzing non independent data arising from hierarchical structures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6.jpe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7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8.pn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1.png" Type="http://schemas.openxmlformats.org/officeDocument/2006/relationships/image"/><Relationship Id="rId6" Target="../media/image12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9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3.png" Type="http://schemas.openxmlformats.org/officeDocument/2006/relationships/image"/><Relationship Id="rId6" Target="../media/image14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5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6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7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8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9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9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0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20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1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2.xml" Type="http://schemas.openxmlformats.org/officeDocument/2006/relationships/notesSlid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673927" cy="10708316"/>
            <a:chOff x="0" y="0"/>
            <a:chExt cx="2547865" cy="28202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7865" cy="2820297"/>
            </a:xfrm>
            <a:custGeom>
              <a:avLst/>
              <a:gdLst/>
              <a:ahLst/>
              <a:cxnLst/>
              <a:rect r="r" b="b" t="t" l="l"/>
              <a:pathLst>
                <a:path h="2820297" w="2547865">
                  <a:moveTo>
                    <a:pt x="0" y="0"/>
                  </a:moveTo>
                  <a:lnTo>
                    <a:pt x="2547865" y="0"/>
                  </a:lnTo>
                  <a:lnTo>
                    <a:pt x="2547865" y="2820297"/>
                  </a:lnTo>
                  <a:lnTo>
                    <a:pt x="0" y="2820297"/>
                  </a:lnTo>
                  <a:close/>
                </a:path>
              </a:pathLst>
            </a:custGeom>
            <a:solidFill>
              <a:srgbClr val="82C2E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47865" cy="2858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77047" y="7128324"/>
            <a:ext cx="15662715" cy="2721397"/>
          </a:xfrm>
          <a:custGeom>
            <a:avLst/>
            <a:gdLst/>
            <a:ahLst/>
            <a:cxnLst/>
            <a:rect r="r" b="b" t="t" l="l"/>
            <a:pathLst>
              <a:path h="2721397" w="15662715">
                <a:moveTo>
                  <a:pt x="0" y="0"/>
                </a:moveTo>
                <a:lnTo>
                  <a:pt x="15662715" y="0"/>
                </a:lnTo>
                <a:lnTo>
                  <a:pt x="15662715" y="2721397"/>
                </a:lnTo>
                <a:lnTo>
                  <a:pt x="0" y="27213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277501" y="1428620"/>
            <a:ext cx="14603525" cy="7168964"/>
            <a:chOff x="0" y="0"/>
            <a:chExt cx="5233574" cy="25691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233574" cy="2569195"/>
            </a:xfrm>
            <a:custGeom>
              <a:avLst/>
              <a:gdLst/>
              <a:ahLst/>
              <a:cxnLst/>
              <a:rect r="r" b="b" t="t" l="l"/>
              <a:pathLst>
                <a:path h="2569195" w="5233574">
                  <a:moveTo>
                    <a:pt x="29688" y="0"/>
                  </a:moveTo>
                  <a:lnTo>
                    <a:pt x="5203886" y="0"/>
                  </a:lnTo>
                  <a:cubicBezTo>
                    <a:pt x="5220282" y="0"/>
                    <a:pt x="5233574" y="13292"/>
                    <a:pt x="5233574" y="29688"/>
                  </a:cubicBezTo>
                  <a:lnTo>
                    <a:pt x="5233574" y="2539507"/>
                  </a:lnTo>
                  <a:cubicBezTo>
                    <a:pt x="5233574" y="2547381"/>
                    <a:pt x="5230446" y="2554932"/>
                    <a:pt x="5224879" y="2560500"/>
                  </a:cubicBezTo>
                  <a:cubicBezTo>
                    <a:pt x="5219311" y="2566067"/>
                    <a:pt x="5211760" y="2569195"/>
                    <a:pt x="5203886" y="2569195"/>
                  </a:cubicBezTo>
                  <a:lnTo>
                    <a:pt x="29688" y="2569195"/>
                  </a:lnTo>
                  <a:cubicBezTo>
                    <a:pt x="21814" y="2569195"/>
                    <a:pt x="14263" y="2566067"/>
                    <a:pt x="8695" y="2560500"/>
                  </a:cubicBezTo>
                  <a:cubicBezTo>
                    <a:pt x="3128" y="2554932"/>
                    <a:pt x="0" y="2547381"/>
                    <a:pt x="0" y="2539507"/>
                  </a:cubicBezTo>
                  <a:lnTo>
                    <a:pt x="0" y="29688"/>
                  </a:lnTo>
                  <a:cubicBezTo>
                    <a:pt x="0" y="21814"/>
                    <a:pt x="3128" y="14263"/>
                    <a:pt x="8695" y="8695"/>
                  </a:cubicBezTo>
                  <a:cubicBezTo>
                    <a:pt x="14263" y="3128"/>
                    <a:pt x="21814" y="0"/>
                    <a:pt x="2968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233574" cy="2616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52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587827" y="1559018"/>
            <a:ext cx="3086100" cy="7168964"/>
            <a:chOff x="0" y="0"/>
            <a:chExt cx="812800" cy="18881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1888122"/>
            </a:xfrm>
            <a:custGeom>
              <a:avLst/>
              <a:gdLst/>
              <a:ahLst/>
              <a:cxnLst/>
              <a:rect r="r" b="b" t="t" l="l"/>
              <a:pathLst>
                <a:path h="188812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888122"/>
                  </a:lnTo>
                  <a:lnTo>
                    <a:pt x="0" y="188812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12800" cy="1926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6881027" y="671982"/>
            <a:ext cx="917470" cy="756638"/>
          </a:xfrm>
          <a:custGeom>
            <a:avLst/>
            <a:gdLst/>
            <a:ahLst/>
            <a:cxnLst/>
            <a:rect r="r" b="b" t="t" l="l"/>
            <a:pathLst>
              <a:path h="756638" w="917470">
                <a:moveTo>
                  <a:pt x="0" y="0"/>
                </a:moveTo>
                <a:lnTo>
                  <a:pt x="917470" y="0"/>
                </a:lnTo>
                <a:lnTo>
                  <a:pt x="917470" y="756638"/>
                </a:lnTo>
                <a:lnTo>
                  <a:pt x="0" y="7566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 flipV="true">
            <a:off x="2800793" y="2246683"/>
            <a:ext cx="0" cy="6131323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4" id="14"/>
          <p:cNvSpPr/>
          <p:nvPr/>
        </p:nvSpPr>
        <p:spPr>
          <a:xfrm flipH="false" flipV="false" rot="0">
            <a:off x="13968698" y="8861332"/>
            <a:ext cx="3673368" cy="1294862"/>
          </a:xfrm>
          <a:custGeom>
            <a:avLst/>
            <a:gdLst/>
            <a:ahLst/>
            <a:cxnLst/>
            <a:rect r="r" b="b" t="t" l="l"/>
            <a:pathLst>
              <a:path h="1294862" w="3673368">
                <a:moveTo>
                  <a:pt x="0" y="0"/>
                </a:moveTo>
                <a:lnTo>
                  <a:pt x="3673368" y="0"/>
                </a:lnTo>
                <a:lnTo>
                  <a:pt x="3673368" y="1294862"/>
                </a:lnTo>
                <a:lnTo>
                  <a:pt x="0" y="12948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851842" y="2536332"/>
            <a:ext cx="4953540" cy="4953540"/>
          </a:xfrm>
          <a:custGeom>
            <a:avLst/>
            <a:gdLst/>
            <a:ahLst/>
            <a:cxnLst/>
            <a:rect r="r" b="b" t="t" l="l"/>
            <a:pathLst>
              <a:path h="4953540" w="4953540">
                <a:moveTo>
                  <a:pt x="0" y="0"/>
                </a:moveTo>
                <a:lnTo>
                  <a:pt x="4953540" y="0"/>
                </a:lnTo>
                <a:lnTo>
                  <a:pt x="4953540" y="4953541"/>
                </a:lnTo>
                <a:lnTo>
                  <a:pt x="0" y="495354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3309189" y="6070581"/>
            <a:ext cx="5111829" cy="12196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00"/>
              </a:lnSpc>
            </a:pPr>
            <a:r>
              <a:rPr lang="en-US" sz="335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Information Visualisation</a:t>
            </a:r>
          </a:p>
          <a:p>
            <a:pPr algn="l">
              <a:lnSpc>
                <a:spcPts val="4700"/>
              </a:lnSpc>
            </a:pPr>
            <a:r>
              <a:rPr lang="en-US" sz="335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2025-2026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3241403" y="7525593"/>
            <a:ext cx="12675722" cy="71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740"/>
              </a:lnSpc>
              <a:spcBef>
                <a:spcPct val="0"/>
              </a:spcBef>
            </a:pPr>
            <a:r>
              <a:rPr lang="en-US" sz="1957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By</a:t>
            </a:r>
            <a:r>
              <a:rPr lang="en-US" sz="1957" strike="noStrike" u="none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:</a:t>
            </a:r>
          </a:p>
          <a:p>
            <a:pPr algn="l" marL="0" indent="0" lvl="0">
              <a:lnSpc>
                <a:spcPts val="2740"/>
              </a:lnSpc>
              <a:spcBef>
                <a:spcPct val="0"/>
              </a:spcBef>
            </a:pPr>
            <a:r>
              <a:rPr lang="en-US" sz="1957" strike="noStrike" u="none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Muhammad Ahmad, ED-DAHMANI Soulaimane, Muhammad Zaryab, Tachon-Panafieu Matthys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129660" y="2797867"/>
            <a:ext cx="6343207" cy="3944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17"/>
              </a:lnSpc>
            </a:pPr>
            <a:r>
              <a:rPr lang="en-US" sz="6896" spc="-68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US Air Pollution Explorer </a:t>
            </a:r>
          </a:p>
          <a:p>
            <a:pPr algn="l">
              <a:lnSpc>
                <a:spcPts val="7517"/>
              </a:lnSpc>
            </a:pPr>
            <a:r>
              <a:rPr lang="en-US" sz="6896" spc="-68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(D3.js + Leaflet)</a:t>
            </a:r>
          </a:p>
          <a:p>
            <a:pPr algn="l">
              <a:lnSpc>
                <a:spcPts val="7517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3842582" y="0"/>
            <a:ext cx="4445418" cy="10287000"/>
            <a:chOff x="0" y="0"/>
            <a:chExt cx="5927224" cy="137160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3"/>
            <a:srcRect l="35621" t="0" r="35621" b="0"/>
            <a:stretch>
              <a:fillRect/>
            </a:stretch>
          </p:blipFill>
          <p:spPr>
            <a:xfrm flipH="false" flipV="false">
              <a:off x="0" y="0"/>
              <a:ext cx="5927224" cy="13716000"/>
            </a:xfrm>
            <a:prstGeom prst="rect">
              <a:avLst/>
            </a:prstGeom>
          </p:spPr>
        </p:pic>
      </p:grpSp>
      <p:sp>
        <p:nvSpPr>
          <p:cNvPr name="Freeform 4" id="4"/>
          <p:cNvSpPr/>
          <p:nvPr/>
        </p:nvSpPr>
        <p:spPr>
          <a:xfrm flipH="false" flipV="false" rot="0">
            <a:off x="569965" y="650381"/>
            <a:ext cx="917470" cy="756638"/>
          </a:xfrm>
          <a:custGeom>
            <a:avLst/>
            <a:gdLst/>
            <a:ahLst/>
            <a:cxnLst/>
            <a:rect r="r" b="b" t="t" l="l"/>
            <a:pathLst>
              <a:path h="756638" w="917470">
                <a:moveTo>
                  <a:pt x="0" y="0"/>
                </a:moveTo>
                <a:lnTo>
                  <a:pt x="917470" y="0"/>
                </a:lnTo>
                <a:lnTo>
                  <a:pt x="917470" y="756638"/>
                </a:lnTo>
                <a:lnTo>
                  <a:pt x="0" y="756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 flipH="true">
            <a:off x="1487435" y="9599490"/>
            <a:ext cx="9613604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6" id="6"/>
          <p:cNvSpPr txBox="true"/>
          <p:nvPr/>
        </p:nvSpPr>
        <p:spPr>
          <a:xfrm rot="0">
            <a:off x="217844" y="9242082"/>
            <a:ext cx="1269591" cy="62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3357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87435" y="1459978"/>
            <a:ext cx="7800917" cy="1086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17"/>
              </a:lnSpc>
            </a:pPr>
            <a:r>
              <a:rPr lang="en-US" sz="6896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Table of Contents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924040" y="3564544"/>
            <a:ext cx="2692598" cy="564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6"/>
              </a:lnSpc>
              <a:spcBef>
                <a:spcPct val="0"/>
              </a:spcBef>
            </a:pPr>
            <a:r>
              <a:rPr lang="en-US" sz="326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Introduction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87435" y="3275061"/>
            <a:ext cx="1204169" cy="10864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9"/>
              </a:lnSpc>
            </a:pPr>
            <a:r>
              <a:rPr lang="en-US" sz="6349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1.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924040" y="4747608"/>
            <a:ext cx="5896689" cy="564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6"/>
              </a:lnSpc>
              <a:spcBef>
                <a:spcPct val="0"/>
              </a:spcBef>
            </a:pPr>
            <a:r>
              <a:rPr lang="en-US" sz="326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Presentation of our dataset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487435" y="4457614"/>
            <a:ext cx="1204169" cy="108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9"/>
              </a:lnSpc>
            </a:pPr>
            <a:r>
              <a:rPr lang="en-US" sz="6349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2.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962140" y="7025743"/>
            <a:ext cx="3931444" cy="564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6"/>
              </a:lnSpc>
              <a:spcBef>
                <a:spcPct val="0"/>
              </a:spcBef>
            </a:pPr>
            <a:r>
              <a:rPr lang="en-US" sz="326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Dashboard</a:t>
            </a:r>
            <a:r>
              <a:rPr lang="en-US" sz="326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 Design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487435" y="6735749"/>
            <a:ext cx="1204169" cy="108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9"/>
              </a:lnSpc>
            </a:pPr>
            <a:r>
              <a:rPr lang="en-US" sz="6349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4</a:t>
            </a:r>
            <a:r>
              <a:rPr lang="en-US" sz="6349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962140" y="8227552"/>
            <a:ext cx="5043964" cy="564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6"/>
              </a:lnSpc>
              <a:spcBef>
                <a:spcPct val="0"/>
              </a:spcBef>
            </a:pPr>
            <a:r>
              <a:rPr lang="en-US" sz="326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Overview of our project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487435" y="7937558"/>
            <a:ext cx="1204169" cy="108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9"/>
              </a:lnSpc>
            </a:pPr>
            <a:r>
              <a:rPr lang="en-US" sz="6349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5.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2924040" y="5889316"/>
            <a:ext cx="4887873" cy="5646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76"/>
              </a:lnSpc>
              <a:spcBef>
                <a:spcPct val="0"/>
              </a:spcBef>
            </a:pPr>
            <a:r>
              <a:rPr lang="en-US" sz="3268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Preprocessing Pipeline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487435" y="5599322"/>
            <a:ext cx="1204169" cy="10875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889"/>
              </a:lnSpc>
            </a:pPr>
            <a:r>
              <a:rPr lang="en-US" sz="6349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3</a:t>
            </a:r>
            <a:r>
              <a:rPr lang="en-US" sz="6349">
                <a:solidFill>
                  <a:srgbClr val="000000"/>
                </a:solidFill>
                <a:latin typeface="Alexandria"/>
                <a:ea typeface="Alexandria"/>
                <a:cs typeface="Alexandria"/>
                <a:sym typeface="Alexandria"/>
              </a:rPr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9965" y="650381"/>
            <a:ext cx="917470" cy="756638"/>
          </a:xfrm>
          <a:custGeom>
            <a:avLst/>
            <a:gdLst/>
            <a:ahLst/>
            <a:cxnLst/>
            <a:rect r="r" b="b" t="t" l="l"/>
            <a:pathLst>
              <a:path h="756638" w="917470">
                <a:moveTo>
                  <a:pt x="0" y="0"/>
                </a:moveTo>
                <a:lnTo>
                  <a:pt x="917470" y="0"/>
                </a:lnTo>
                <a:lnTo>
                  <a:pt x="917470" y="756638"/>
                </a:lnTo>
                <a:lnTo>
                  <a:pt x="0" y="7566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>
            <a:off x="1487435" y="9599490"/>
            <a:ext cx="9613604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217844" y="9242082"/>
            <a:ext cx="1269591" cy="62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3357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04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87435" y="1459978"/>
            <a:ext cx="3606046" cy="1086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17"/>
              </a:lnSpc>
            </a:pPr>
            <a:r>
              <a:rPr lang="en-US" sz="6896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Our goal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258067" y="4337050"/>
            <a:ext cx="15771865" cy="216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600"/>
              </a:lnSpc>
            </a:pPr>
            <a:r>
              <a:rPr lang="en-US" sz="40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How can we transform a massive multidimensional dataset on air pollution into an intuitive dashboard that provides both a quick overview and the ability to explore the data in depth ?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9965" y="650381"/>
            <a:ext cx="917470" cy="756638"/>
          </a:xfrm>
          <a:custGeom>
            <a:avLst/>
            <a:gdLst/>
            <a:ahLst/>
            <a:cxnLst/>
            <a:rect r="r" b="b" t="t" l="l"/>
            <a:pathLst>
              <a:path h="756638" w="917470">
                <a:moveTo>
                  <a:pt x="0" y="0"/>
                </a:moveTo>
                <a:lnTo>
                  <a:pt x="917470" y="0"/>
                </a:lnTo>
                <a:lnTo>
                  <a:pt x="917470" y="756638"/>
                </a:lnTo>
                <a:lnTo>
                  <a:pt x="0" y="7566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>
            <a:off x="1487435" y="9599490"/>
            <a:ext cx="9613604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028700" y="3121859"/>
            <a:ext cx="16230600" cy="1138123"/>
            <a:chOff x="0" y="0"/>
            <a:chExt cx="4274726" cy="29975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274726" cy="299753"/>
            </a:xfrm>
            <a:custGeom>
              <a:avLst/>
              <a:gdLst/>
              <a:ahLst/>
              <a:cxnLst/>
              <a:rect r="r" b="b" t="t" l="l"/>
              <a:pathLst>
                <a:path h="299753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75426"/>
                  </a:lnTo>
                  <a:cubicBezTo>
                    <a:pt x="4274726" y="288861"/>
                    <a:pt x="4263834" y="299753"/>
                    <a:pt x="4250399" y="299753"/>
                  </a:cubicBezTo>
                  <a:lnTo>
                    <a:pt x="24327" y="299753"/>
                  </a:lnTo>
                  <a:cubicBezTo>
                    <a:pt x="17875" y="299753"/>
                    <a:pt x="11687" y="297190"/>
                    <a:pt x="7125" y="292627"/>
                  </a:cubicBezTo>
                  <a:cubicBezTo>
                    <a:pt x="2563" y="288065"/>
                    <a:pt x="0" y="281878"/>
                    <a:pt x="0" y="27542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4274726" cy="356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25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17844" y="9242082"/>
            <a:ext cx="1269591" cy="62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3357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03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028700" y="4429405"/>
            <a:ext cx="16230600" cy="1138123"/>
            <a:chOff x="0" y="0"/>
            <a:chExt cx="4274726" cy="29975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274726" cy="299753"/>
            </a:xfrm>
            <a:custGeom>
              <a:avLst/>
              <a:gdLst/>
              <a:ahLst/>
              <a:cxnLst/>
              <a:rect r="r" b="b" t="t" l="l"/>
              <a:pathLst>
                <a:path h="299753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75426"/>
                  </a:lnTo>
                  <a:cubicBezTo>
                    <a:pt x="4274726" y="288861"/>
                    <a:pt x="4263834" y="299753"/>
                    <a:pt x="4250399" y="299753"/>
                  </a:cubicBezTo>
                  <a:lnTo>
                    <a:pt x="24327" y="299753"/>
                  </a:lnTo>
                  <a:cubicBezTo>
                    <a:pt x="17875" y="299753"/>
                    <a:pt x="11687" y="297190"/>
                    <a:pt x="7125" y="292627"/>
                  </a:cubicBezTo>
                  <a:cubicBezTo>
                    <a:pt x="2563" y="288065"/>
                    <a:pt x="0" y="281878"/>
                    <a:pt x="0" y="27542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4274726" cy="356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25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028700" y="5736950"/>
            <a:ext cx="16230600" cy="1138123"/>
            <a:chOff x="0" y="0"/>
            <a:chExt cx="4274726" cy="29975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4274726" cy="299753"/>
            </a:xfrm>
            <a:custGeom>
              <a:avLst/>
              <a:gdLst/>
              <a:ahLst/>
              <a:cxnLst/>
              <a:rect r="r" b="b" t="t" l="l"/>
              <a:pathLst>
                <a:path h="299753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75426"/>
                  </a:lnTo>
                  <a:cubicBezTo>
                    <a:pt x="4274726" y="288861"/>
                    <a:pt x="4263834" y="299753"/>
                    <a:pt x="4250399" y="299753"/>
                  </a:cubicBezTo>
                  <a:lnTo>
                    <a:pt x="24327" y="299753"/>
                  </a:lnTo>
                  <a:cubicBezTo>
                    <a:pt x="17875" y="299753"/>
                    <a:pt x="11687" y="297190"/>
                    <a:pt x="7125" y="292627"/>
                  </a:cubicBezTo>
                  <a:cubicBezTo>
                    <a:pt x="2563" y="288065"/>
                    <a:pt x="0" y="281878"/>
                    <a:pt x="0" y="27542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4274726" cy="356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25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028700" y="7044496"/>
            <a:ext cx="16230600" cy="1138123"/>
            <a:chOff x="0" y="0"/>
            <a:chExt cx="4274726" cy="29975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4274726" cy="299753"/>
            </a:xfrm>
            <a:custGeom>
              <a:avLst/>
              <a:gdLst/>
              <a:ahLst/>
              <a:cxnLst/>
              <a:rect r="r" b="b" t="t" l="l"/>
              <a:pathLst>
                <a:path h="299753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75426"/>
                  </a:lnTo>
                  <a:cubicBezTo>
                    <a:pt x="4274726" y="288861"/>
                    <a:pt x="4263834" y="299753"/>
                    <a:pt x="4250399" y="299753"/>
                  </a:cubicBezTo>
                  <a:lnTo>
                    <a:pt x="24327" y="299753"/>
                  </a:lnTo>
                  <a:cubicBezTo>
                    <a:pt x="17875" y="299753"/>
                    <a:pt x="11687" y="297190"/>
                    <a:pt x="7125" y="292627"/>
                  </a:cubicBezTo>
                  <a:cubicBezTo>
                    <a:pt x="2563" y="288065"/>
                    <a:pt x="0" y="281878"/>
                    <a:pt x="0" y="27542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4274726" cy="356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25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028700" y="8352041"/>
            <a:ext cx="16230600" cy="1138123"/>
            <a:chOff x="0" y="0"/>
            <a:chExt cx="4274726" cy="29975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274726" cy="299753"/>
            </a:xfrm>
            <a:custGeom>
              <a:avLst/>
              <a:gdLst/>
              <a:ahLst/>
              <a:cxnLst/>
              <a:rect r="r" b="b" t="t" l="l"/>
              <a:pathLst>
                <a:path h="299753" w="4274726">
                  <a:moveTo>
                    <a:pt x="24327" y="0"/>
                  </a:moveTo>
                  <a:lnTo>
                    <a:pt x="4250399" y="0"/>
                  </a:lnTo>
                  <a:cubicBezTo>
                    <a:pt x="4263834" y="0"/>
                    <a:pt x="4274726" y="10891"/>
                    <a:pt x="4274726" y="24327"/>
                  </a:cubicBezTo>
                  <a:lnTo>
                    <a:pt x="4274726" y="275426"/>
                  </a:lnTo>
                  <a:cubicBezTo>
                    <a:pt x="4274726" y="288861"/>
                    <a:pt x="4263834" y="299753"/>
                    <a:pt x="4250399" y="299753"/>
                  </a:cubicBezTo>
                  <a:lnTo>
                    <a:pt x="24327" y="299753"/>
                  </a:lnTo>
                  <a:cubicBezTo>
                    <a:pt x="17875" y="299753"/>
                    <a:pt x="11687" y="297190"/>
                    <a:pt x="7125" y="292627"/>
                  </a:cubicBezTo>
                  <a:cubicBezTo>
                    <a:pt x="2563" y="288065"/>
                    <a:pt x="0" y="281878"/>
                    <a:pt x="0" y="275426"/>
                  </a:cubicBezTo>
                  <a:lnTo>
                    <a:pt x="0" y="24327"/>
                  </a:lnTo>
                  <a:cubicBezTo>
                    <a:pt x="0" y="10891"/>
                    <a:pt x="10891" y="0"/>
                    <a:pt x="24327" y="0"/>
                  </a:cubicBezTo>
                  <a:close/>
                </a:path>
              </a:pathLst>
            </a:custGeom>
            <a:ln w="38100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4274726" cy="356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25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1740848" y="3426126"/>
            <a:ext cx="3089434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Real-world relevance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87435" y="1459978"/>
            <a:ext cx="7368659" cy="1086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17"/>
              </a:lnSpc>
            </a:pPr>
            <a:r>
              <a:rPr lang="en-US" sz="6896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Why This Dataset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40848" y="4735274"/>
            <a:ext cx="2830354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Rich temporal data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740848" y="6044423"/>
            <a:ext cx="3031808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Geographic diversity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40848" y="7353571"/>
            <a:ext cx="2899529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Multiple dimensions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740848" y="8662720"/>
            <a:ext cx="2061210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Adequate size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032679" y="3257789"/>
            <a:ext cx="11029628" cy="862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5A7A8A"/>
                </a:solidFill>
                <a:latin typeface="Codec Pro"/>
                <a:ea typeface="Codec Pro"/>
                <a:cs typeface="Codec Pro"/>
                <a:sym typeface="Codec Pro"/>
              </a:rPr>
              <a:t>Air quality is a pressing public health issue. Data comes directly from the U.S. EPA — authoritative and well-documented.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032679" y="4556634"/>
            <a:ext cx="11029628" cy="862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5A7A8A"/>
                </a:solidFill>
                <a:latin typeface="Codec Pro"/>
                <a:ea typeface="Codec Pro"/>
                <a:cs typeface="Codec Pro"/>
                <a:sym typeface="Codec Pro"/>
              </a:rPr>
              <a:t>17 years of daily measurements enable time series analysis, trend detection and seasonal pattern discovery.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032679" y="5855479"/>
            <a:ext cx="11029628" cy="862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5A7A8A"/>
                </a:solidFill>
                <a:latin typeface="Codec Pro"/>
                <a:ea typeface="Codec Pro"/>
                <a:cs typeface="Codec Pro"/>
                <a:sym typeface="Codec Pro"/>
              </a:rPr>
              <a:t>All 50 U.S. states are represented, enabling spatial comparisons between urban/rural and industrial/residential regions.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032679" y="7154325"/>
            <a:ext cx="11029628" cy="862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5A7A8A"/>
                </a:solidFill>
                <a:latin typeface="Codec Pro"/>
                <a:ea typeface="Codec Pro"/>
                <a:cs typeface="Codec Pro"/>
                <a:sym typeface="Codec Pro"/>
              </a:rPr>
              <a:t>Four pollutants × five metrics each = rich multivariate data ideal for interactive visualisation and linked views.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6032679" y="8453170"/>
            <a:ext cx="11029628" cy="862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5A7A8A"/>
                </a:solidFill>
                <a:latin typeface="Codec Pro"/>
                <a:ea typeface="Codec Pro"/>
                <a:cs typeface="Codec Pro"/>
                <a:sym typeface="Codec Pro"/>
              </a:rPr>
              <a:t>Large enough to require meaningful preprocessing, but structured enough to remain tractable within project scope.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97021" y="2461200"/>
            <a:ext cx="3326249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Motivation &amp; relevance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9965" y="650381"/>
            <a:ext cx="917470" cy="756638"/>
          </a:xfrm>
          <a:custGeom>
            <a:avLst/>
            <a:gdLst/>
            <a:ahLst/>
            <a:cxnLst/>
            <a:rect r="r" b="b" t="t" l="l"/>
            <a:pathLst>
              <a:path h="756638" w="917470">
                <a:moveTo>
                  <a:pt x="0" y="0"/>
                </a:moveTo>
                <a:lnTo>
                  <a:pt x="917470" y="0"/>
                </a:lnTo>
                <a:lnTo>
                  <a:pt x="917470" y="756638"/>
                </a:lnTo>
                <a:lnTo>
                  <a:pt x="0" y="7566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>
            <a:off x="1487435" y="9599490"/>
            <a:ext cx="9613604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379161" y="3183195"/>
            <a:ext cx="1002268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Source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7844" y="9242082"/>
            <a:ext cx="1269591" cy="62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3357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7435" y="1459978"/>
            <a:ext cx="7800917" cy="1086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17"/>
              </a:lnSpc>
            </a:pPr>
            <a:r>
              <a:rPr lang="en-US" sz="6896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Data set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79161" y="3998613"/>
            <a:ext cx="923330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Period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79161" y="4814030"/>
            <a:ext cx="1646992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Granularity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379161" y="5629448"/>
            <a:ext cx="834985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Fields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379161" y="6444866"/>
            <a:ext cx="1463754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Pollutants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79161" y="7260284"/>
            <a:ext cx="2132171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Each pollutant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379161" y="8075701"/>
            <a:ext cx="1408748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Coverage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79161" y="8891119"/>
            <a:ext cx="1072634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Format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770723" y="3183195"/>
            <a:ext cx="6330315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U.S. Environmental Protection Agency (EPA)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770723" y="3998252"/>
            <a:ext cx="5596295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2000 – 2016 (17 years of daily readings)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770723" y="4813308"/>
            <a:ext cx="5220176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One row per monitoring site per day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4770723" y="5628365"/>
            <a:ext cx="6987064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28 columns across 4 pollutants + location + date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4770723" y="6443422"/>
            <a:ext cx="2526268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NO2, O3, SO2, CO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770723" y="7258479"/>
            <a:ext cx="5778698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Mean · 1st Max Value · 1st Max Hour · AQI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4770723" y="8073535"/>
            <a:ext cx="6708457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All 50 U.S. states, hundreds of monitoring sites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770723" y="8888592"/>
            <a:ext cx="4833699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CSV, publicly available on Kaggle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97021" y="2461200"/>
            <a:ext cx="7192209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U.S. Pollution Data — Kaggle (sogun3/uspollution)</a:t>
            </a:r>
          </a:p>
        </p:txBody>
      </p:sp>
      <p:sp>
        <p:nvSpPr>
          <p:cNvPr name="AutoShape 23" id="23"/>
          <p:cNvSpPr/>
          <p:nvPr/>
        </p:nvSpPr>
        <p:spPr>
          <a:xfrm flipV="true">
            <a:off x="1197021" y="3826802"/>
            <a:ext cx="10484489" cy="0"/>
          </a:xfrm>
          <a:prstGeom prst="line">
            <a:avLst/>
          </a:prstGeom>
          <a:ln cap="flat" w="38100">
            <a:solidFill>
              <a:srgbClr val="DCE9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 flipV="true">
            <a:off x="1197021" y="4642267"/>
            <a:ext cx="10484489" cy="0"/>
          </a:xfrm>
          <a:prstGeom prst="line">
            <a:avLst/>
          </a:prstGeom>
          <a:ln cap="flat" w="38100">
            <a:solidFill>
              <a:srgbClr val="DCE9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5" id="25"/>
          <p:cNvSpPr/>
          <p:nvPr/>
        </p:nvSpPr>
        <p:spPr>
          <a:xfrm>
            <a:off x="1197021" y="5457732"/>
            <a:ext cx="10484489" cy="0"/>
          </a:xfrm>
          <a:prstGeom prst="line">
            <a:avLst/>
          </a:prstGeom>
          <a:ln cap="flat" w="38100">
            <a:solidFill>
              <a:srgbClr val="DCE9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6" id="26"/>
          <p:cNvSpPr/>
          <p:nvPr/>
        </p:nvSpPr>
        <p:spPr>
          <a:xfrm>
            <a:off x="1197021" y="6273197"/>
            <a:ext cx="10484489" cy="0"/>
          </a:xfrm>
          <a:prstGeom prst="line">
            <a:avLst/>
          </a:prstGeom>
          <a:ln cap="flat" w="38100">
            <a:solidFill>
              <a:srgbClr val="DCE9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7" id="27"/>
          <p:cNvSpPr/>
          <p:nvPr/>
        </p:nvSpPr>
        <p:spPr>
          <a:xfrm>
            <a:off x="1197021" y="7088661"/>
            <a:ext cx="10484489" cy="0"/>
          </a:xfrm>
          <a:prstGeom prst="line">
            <a:avLst/>
          </a:prstGeom>
          <a:ln cap="flat" w="38100">
            <a:solidFill>
              <a:srgbClr val="DCE9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8" id="28"/>
          <p:cNvSpPr/>
          <p:nvPr/>
        </p:nvSpPr>
        <p:spPr>
          <a:xfrm>
            <a:off x="1197021" y="7904126"/>
            <a:ext cx="10484489" cy="0"/>
          </a:xfrm>
          <a:prstGeom prst="line">
            <a:avLst/>
          </a:prstGeom>
          <a:ln cap="flat" w="38100">
            <a:solidFill>
              <a:srgbClr val="DCE9F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9" id="29"/>
          <p:cNvSpPr/>
          <p:nvPr/>
        </p:nvSpPr>
        <p:spPr>
          <a:xfrm>
            <a:off x="1197021" y="8719591"/>
            <a:ext cx="10484489" cy="0"/>
          </a:xfrm>
          <a:prstGeom prst="line">
            <a:avLst/>
          </a:prstGeom>
          <a:ln cap="flat" w="38100">
            <a:solidFill>
              <a:srgbClr val="DCE9F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0" id="30"/>
          <p:cNvGrpSpPr/>
          <p:nvPr/>
        </p:nvGrpSpPr>
        <p:grpSpPr>
          <a:xfrm rot="0">
            <a:off x="13098887" y="4509042"/>
            <a:ext cx="4630289" cy="1138123"/>
            <a:chOff x="0" y="0"/>
            <a:chExt cx="1219500" cy="299753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219500" cy="299753"/>
            </a:xfrm>
            <a:custGeom>
              <a:avLst/>
              <a:gdLst/>
              <a:ahLst/>
              <a:cxnLst/>
              <a:rect r="r" b="b" t="t" l="l"/>
              <a:pathLst>
                <a:path h="299753" w="1219500">
                  <a:moveTo>
                    <a:pt x="85273" y="0"/>
                  </a:moveTo>
                  <a:lnTo>
                    <a:pt x="1134227" y="0"/>
                  </a:lnTo>
                  <a:cubicBezTo>
                    <a:pt x="1156843" y="0"/>
                    <a:pt x="1178532" y="8984"/>
                    <a:pt x="1194524" y="24976"/>
                  </a:cubicBezTo>
                  <a:cubicBezTo>
                    <a:pt x="1210516" y="40968"/>
                    <a:pt x="1219500" y="62657"/>
                    <a:pt x="1219500" y="85273"/>
                  </a:cubicBezTo>
                  <a:lnTo>
                    <a:pt x="1219500" y="214480"/>
                  </a:lnTo>
                  <a:cubicBezTo>
                    <a:pt x="1219500" y="237096"/>
                    <a:pt x="1210516" y="258785"/>
                    <a:pt x="1194524" y="274777"/>
                  </a:cubicBezTo>
                  <a:cubicBezTo>
                    <a:pt x="1178532" y="290769"/>
                    <a:pt x="1156843" y="299753"/>
                    <a:pt x="1134227" y="299753"/>
                  </a:cubicBezTo>
                  <a:lnTo>
                    <a:pt x="85273" y="299753"/>
                  </a:lnTo>
                  <a:cubicBezTo>
                    <a:pt x="62657" y="299753"/>
                    <a:pt x="40968" y="290769"/>
                    <a:pt x="24976" y="274777"/>
                  </a:cubicBezTo>
                  <a:cubicBezTo>
                    <a:pt x="8984" y="258785"/>
                    <a:pt x="0" y="237096"/>
                    <a:pt x="0" y="214480"/>
                  </a:cubicBezTo>
                  <a:lnTo>
                    <a:pt x="0" y="85273"/>
                  </a:lnTo>
                  <a:cubicBezTo>
                    <a:pt x="0" y="62657"/>
                    <a:pt x="8984" y="40968"/>
                    <a:pt x="24976" y="24976"/>
                  </a:cubicBezTo>
                  <a:cubicBezTo>
                    <a:pt x="40968" y="8984"/>
                    <a:pt x="62657" y="0"/>
                    <a:pt x="85273" y="0"/>
                  </a:cubicBezTo>
                  <a:close/>
                </a:path>
              </a:pathLst>
            </a:custGeom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2" id="32"/>
            <p:cNvSpPr txBox="true"/>
            <p:nvPr/>
          </p:nvSpPr>
          <p:spPr>
            <a:xfrm>
              <a:off x="0" y="-57150"/>
              <a:ext cx="1219500" cy="356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25"/>
                </a:lnSpc>
              </a:pPr>
            </a:p>
          </p:txBody>
        </p:sp>
      </p:grpSp>
      <p:sp>
        <p:nvSpPr>
          <p:cNvPr name="TextBox 33" id="33"/>
          <p:cNvSpPr txBox="true"/>
          <p:nvPr/>
        </p:nvSpPr>
        <p:spPr>
          <a:xfrm rot="0">
            <a:off x="13858849" y="4548513"/>
            <a:ext cx="674846" cy="89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28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5114116" y="4813308"/>
            <a:ext cx="2356842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5A7A8A"/>
                </a:solidFill>
                <a:latin typeface="Codec Pro"/>
                <a:ea typeface="Codec Pro"/>
                <a:cs typeface="Codec Pro"/>
                <a:sym typeface="Codec Pro"/>
              </a:rPr>
              <a:t>f</a:t>
            </a:r>
            <a:r>
              <a:rPr lang="en-US" sz="2400">
                <a:solidFill>
                  <a:srgbClr val="5A7A8A"/>
                </a:solidFill>
                <a:latin typeface="Codec Pro"/>
                <a:ea typeface="Codec Pro"/>
                <a:cs typeface="Codec Pro"/>
                <a:sym typeface="Codec Pro"/>
              </a:rPr>
              <a:t>ields per record</a:t>
            </a:r>
          </a:p>
        </p:txBody>
      </p:sp>
      <p:grpSp>
        <p:nvGrpSpPr>
          <p:cNvPr name="Group 35" id="35"/>
          <p:cNvGrpSpPr/>
          <p:nvPr/>
        </p:nvGrpSpPr>
        <p:grpSpPr>
          <a:xfrm rot="0">
            <a:off x="13154308" y="6246480"/>
            <a:ext cx="4630289" cy="1138123"/>
            <a:chOff x="0" y="0"/>
            <a:chExt cx="1219500" cy="299753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219500" cy="299753"/>
            </a:xfrm>
            <a:custGeom>
              <a:avLst/>
              <a:gdLst/>
              <a:ahLst/>
              <a:cxnLst/>
              <a:rect r="r" b="b" t="t" l="l"/>
              <a:pathLst>
                <a:path h="299753" w="1219500">
                  <a:moveTo>
                    <a:pt x="85273" y="0"/>
                  </a:moveTo>
                  <a:lnTo>
                    <a:pt x="1134227" y="0"/>
                  </a:lnTo>
                  <a:cubicBezTo>
                    <a:pt x="1156843" y="0"/>
                    <a:pt x="1178532" y="8984"/>
                    <a:pt x="1194524" y="24976"/>
                  </a:cubicBezTo>
                  <a:cubicBezTo>
                    <a:pt x="1210516" y="40968"/>
                    <a:pt x="1219500" y="62657"/>
                    <a:pt x="1219500" y="85273"/>
                  </a:cubicBezTo>
                  <a:lnTo>
                    <a:pt x="1219500" y="214480"/>
                  </a:lnTo>
                  <a:cubicBezTo>
                    <a:pt x="1219500" y="237096"/>
                    <a:pt x="1210516" y="258785"/>
                    <a:pt x="1194524" y="274777"/>
                  </a:cubicBezTo>
                  <a:cubicBezTo>
                    <a:pt x="1178532" y="290769"/>
                    <a:pt x="1156843" y="299753"/>
                    <a:pt x="1134227" y="299753"/>
                  </a:cubicBezTo>
                  <a:lnTo>
                    <a:pt x="85273" y="299753"/>
                  </a:lnTo>
                  <a:cubicBezTo>
                    <a:pt x="62657" y="299753"/>
                    <a:pt x="40968" y="290769"/>
                    <a:pt x="24976" y="274777"/>
                  </a:cubicBezTo>
                  <a:cubicBezTo>
                    <a:pt x="8984" y="258785"/>
                    <a:pt x="0" y="237096"/>
                    <a:pt x="0" y="214480"/>
                  </a:cubicBezTo>
                  <a:lnTo>
                    <a:pt x="0" y="85273"/>
                  </a:lnTo>
                  <a:cubicBezTo>
                    <a:pt x="0" y="62657"/>
                    <a:pt x="8984" y="40968"/>
                    <a:pt x="24976" y="24976"/>
                  </a:cubicBezTo>
                  <a:cubicBezTo>
                    <a:pt x="40968" y="8984"/>
                    <a:pt x="62657" y="0"/>
                    <a:pt x="85273" y="0"/>
                  </a:cubicBezTo>
                  <a:close/>
                </a:path>
              </a:pathLst>
            </a:custGeom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57150"/>
              <a:ext cx="1219500" cy="356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25"/>
                </a:lnSpc>
              </a:pPr>
            </a:p>
          </p:txBody>
        </p:sp>
      </p:grpSp>
      <p:sp>
        <p:nvSpPr>
          <p:cNvPr name="TextBox 38" id="38"/>
          <p:cNvSpPr txBox="true"/>
          <p:nvPr/>
        </p:nvSpPr>
        <p:spPr>
          <a:xfrm rot="0">
            <a:off x="14072325" y="6285951"/>
            <a:ext cx="358735" cy="89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4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5169537" y="6549543"/>
            <a:ext cx="2356842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5A7A8A"/>
                </a:solidFill>
                <a:latin typeface="Codec Pro"/>
                <a:ea typeface="Codec Pro"/>
                <a:cs typeface="Codec Pro"/>
                <a:sym typeface="Codec Pro"/>
              </a:rPr>
              <a:t>f</a:t>
            </a:r>
            <a:r>
              <a:rPr lang="en-US" sz="2400">
                <a:solidFill>
                  <a:srgbClr val="5A7A8A"/>
                </a:solidFill>
                <a:latin typeface="Codec Pro"/>
                <a:ea typeface="Codec Pro"/>
                <a:cs typeface="Codec Pro"/>
                <a:sym typeface="Codec Pro"/>
              </a:rPr>
              <a:t>ields per record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13257621" y="7984678"/>
            <a:ext cx="4630289" cy="1138123"/>
            <a:chOff x="0" y="0"/>
            <a:chExt cx="1219500" cy="299753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219500" cy="299753"/>
            </a:xfrm>
            <a:custGeom>
              <a:avLst/>
              <a:gdLst/>
              <a:ahLst/>
              <a:cxnLst/>
              <a:rect r="r" b="b" t="t" l="l"/>
              <a:pathLst>
                <a:path h="299753" w="1219500">
                  <a:moveTo>
                    <a:pt x="85273" y="0"/>
                  </a:moveTo>
                  <a:lnTo>
                    <a:pt x="1134227" y="0"/>
                  </a:lnTo>
                  <a:cubicBezTo>
                    <a:pt x="1156843" y="0"/>
                    <a:pt x="1178532" y="8984"/>
                    <a:pt x="1194524" y="24976"/>
                  </a:cubicBezTo>
                  <a:cubicBezTo>
                    <a:pt x="1210516" y="40968"/>
                    <a:pt x="1219500" y="62657"/>
                    <a:pt x="1219500" y="85273"/>
                  </a:cubicBezTo>
                  <a:lnTo>
                    <a:pt x="1219500" y="214480"/>
                  </a:lnTo>
                  <a:cubicBezTo>
                    <a:pt x="1219500" y="237096"/>
                    <a:pt x="1210516" y="258785"/>
                    <a:pt x="1194524" y="274777"/>
                  </a:cubicBezTo>
                  <a:cubicBezTo>
                    <a:pt x="1178532" y="290769"/>
                    <a:pt x="1156843" y="299753"/>
                    <a:pt x="1134227" y="299753"/>
                  </a:cubicBezTo>
                  <a:lnTo>
                    <a:pt x="85273" y="299753"/>
                  </a:lnTo>
                  <a:cubicBezTo>
                    <a:pt x="62657" y="299753"/>
                    <a:pt x="40968" y="290769"/>
                    <a:pt x="24976" y="274777"/>
                  </a:cubicBezTo>
                  <a:cubicBezTo>
                    <a:pt x="8984" y="258785"/>
                    <a:pt x="0" y="237096"/>
                    <a:pt x="0" y="214480"/>
                  </a:cubicBezTo>
                  <a:lnTo>
                    <a:pt x="0" y="85273"/>
                  </a:lnTo>
                  <a:cubicBezTo>
                    <a:pt x="0" y="62657"/>
                    <a:pt x="8984" y="40968"/>
                    <a:pt x="24976" y="24976"/>
                  </a:cubicBezTo>
                  <a:cubicBezTo>
                    <a:pt x="40968" y="8984"/>
                    <a:pt x="62657" y="0"/>
                    <a:pt x="85273" y="0"/>
                  </a:cubicBezTo>
                  <a:close/>
                </a:path>
              </a:pathLst>
            </a:custGeom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42" id="42"/>
            <p:cNvSpPr txBox="true"/>
            <p:nvPr/>
          </p:nvSpPr>
          <p:spPr>
            <a:xfrm>
              <a:off x="0" y="-57150"/>
              <a:ext cx="1219500" cy="35690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25"/>
                </a:lnSpc>
              </a:pPr>
            </a:p>
          </p:txBody>
        </p:sp>
      </p:grpSp>
      <p:sp>
        <p:nvSpPr>
          <p:cNvPr name="TextBox 43" id="43"/>
          <p:cNvSpPr txBox="true"/>
          <p:nvPr/>
        </p:nvSpPr>
        <p:spPr>
          <a:xfrm rot="0">
            <a:off x="13585386" y="8024150"/>
            <a:ext cx="1539240" cy="89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~1.7M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5517345" y="8287139"/>
            <a:ext cx="1867853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5A7A8A"/>
                </a:solidFill>
                <a:latin typeface="Codec Pro"/>
                <a:ea typeface="Codec Pro"/>
                <a:cs typeface="Codec Pro"/>
                <a:sym typeface="Codec Pro"/>
              </a:rPr>
              <a:t>da</a:t>
            </a:r>
            <a:r>
              <a:rPr lang="en-US" sz="2400">
                <a:solidFill>
                  <a:srgbClr val="5A7A8A"/>
                </a:solidFill>
                <a:latin typeface="Codec Pro"/>
                <a:ea typeface="Codec Pro"/>
                <a:cs typeface="Codec Pro"/>
                <a:sym typeface="Codec Pro"/>
              </a:rPr>
              <a:t>ily records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9965" y="650381"/>
            <a:ext cx="917470" cy="756638"/>
          </a:xfrm>
          <a:custGeom>
            <a:avLst/>
            <a:gdLst/>
            <a:ahLst/>
            <a:cxnLst/>
            <a:rect r="r" b="b" t="t" l="l"/>
            <a:pathLst>
              <a:path h="756638" w="917470">
                <a:moveTo>
                  <a:pt x="0" y="0"/>
                </a:moveTo>
                <a:lnTo>
                  <a:pt x="917470" y="0"/>
                </a:lnTo>
                <a:lnTo>
                  <a:pt x="917470" y="756638"/>
                </a:lnTo>
                <a:lnTo>
                  <a:pt x="0" y="7566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>
            <a:off x="1487435" y="9599490"/>
            <a:ext cx="9613604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379161" y="3331785"/>
            <a:ext cx="3113008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Primary User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7844" y="9242082"/>
            <a:ext cx="1269591" cy="62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3357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06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7435" y="1459978"/>
            <a:ext cx="8746570" cy="1086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17"/>
              </a:lnSpc>
            </a:pPr>
            <a:r>
              <a:rPr lang="en-US" sz="6896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Target Users &amp; Tasks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79161" y="4273816"/>
            <a:ext cx="8443912" cy="4634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Environmental Policy Analyst / Public Health Researcher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Monitors long-term trends in air quality across the U.S.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Compares pollution levels between states and cities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Identifies peak pollution periods and locations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Evaluates impact of environmental policies over time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Communicates findings to non-technical stakeholders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97021" y="2461200"/>
            <a:ext cx="8171259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Who are we designing for, and what do they need to do?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flipH="true">
            <a:off x="1487435" y="9599490"/>
            <a:ext cx="9613604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3" id="3"/>
          <p:cNvSpPr/>
          <p:nvPr/>
        </p:nvSpPr>
        <p:spPr>
          <a:xfrm flipH="false" flipV="false" rot="0">
            <a:off x="569965" y="490913"/>
            <a:ext cx="16365991" cy="9108576"/>
          </a:xfrm>
          <a:custGeom>
            <a:avLst/>
            <a:gdLst/>
            <a:ahLst/>
            <a:cxnLst/>
            <a:rect r="r" b="b" t="t" l="l"/>
            <a:pathLst>
              <a:path h="9108576" w="16365991">
                <a:moveTo>
                  <a:pt x="0" y="0"/>
                </a:moveTo>
                <a:lnTo>
                  <a:pt x="16365991" y="0"/>
                </a:lnTo>
                <a:lnTo>
                  <a:pt x="16365991" y="9108577"/>
                </a:lnTo>
                <a:lnTo>
                  <a:pt x="0" y="91085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1099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7844" y="9242082"/>
            <a:ext cx="1269591" cy="62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3357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07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569965" y="650381"/>
            <a:ext cx="917470" cy="756638"/>
          </a:xfrm>
          <a:custGeom>
            <a:avLst/>
            <a:gdLst/>
            <a:ahLst/>
            <a:cxnLst/>
            <a:rect r="r" b="b" t="t" l="l"/>
            <a:pathLst>
              <a:path h="756638" w="917470">
                <a:moveTo>
                  <a:pt x="0" y="0"/>
                </a:moveTo>
                <a:lnTo>
                  <a:pt x="917470" y="0"/>
                </a:lnTo>
                <a:lnTo>
                  <a:pt x="917470" y="756638"/>
                </a:lnTo>
                <a:lnTo>
                  <a:pt x="0" y="756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81350" y="5137515"/>
            <a:ext cx="8716286" cy="4590577"/>
          </a:xfrm>
          <a:custGeom>
            <a:avLst/>
            <a:gdLst/>
            <a:ahLst/>
            <a:cxnLst/>
            <a:rect r="r" b="b" t="t" l="l"/>
            <a:pathLst>
              <a:path h="4590577" w="8716286">
                <a:moveTo>
                  <a:pt x="0" y="0"/>
                </a:moveTo>
                <a:lnTo>
                  <a:pt x="8716287" y="0"/>
                </a:lnTo>
                <a:lnTo>
                  <a:pt x="8716287" y="4590578"/>
                </a:lnTo>
                <a:lnTo>
                  <a:pt x="0" y="459057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69965" y="650381"/>
            <a:ext cx="917470" cy="756638"/>
          </a:xfrm>
          <a:custGeom>
            <a:avLst/>
            <a:gdLst/>
            <a:ahLst/>
            <a:cxnLst/>
            <a:rect r="r" b="b" t="t" l="l"/>
            <a:pathLst>
              <a:path h="756638" w="917470">
                <a:moveTo>
                  <a:pt x="0" y="0"/>
                </a:moveTo>
                <a:lnTo>
                  <a:pt x="917470" y="0"/>
                </a:lnTo>
                <a:lnTo>
                  <a:pt x="917470" y="756638"/>
                </a:lnTo>
                <a:lnTo>
                  <a:pt x="0" y="7566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4" id="4"/>
          <p:cNvSpPr/>
          <p:nvPr/>
        </p:nvSpPr>
        <p:spPr>
          <a:xfrm flipH="true">
            <a:off x="1487435" y="9599490"/>
            <a:ext cx="9613604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5" id="5"/>
          <p:cNvGrpSpPr/>
          <p:nvPr/>
        </p:nvGrpSpPr>
        <p:grpSpPr>
          <a:xfrm rot="0">
            <a:off x="1197021" y="3000315"/>
            <a:ext cx="3012239" cy="1908600"/>
            <a:chOff x="0" y="0"/>
            <a:chExt cx="793347" cy="50267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93347" cy="502677"/>
            </a:xfrm>
            <a:custGeom>
              <a:avLst/>
              <a:gdLst/>
              <a:ahLst/>
              <a:cxnLst/>
              <a:rect r="r" b="b" t="t" l="l"/>
              <a:pathLst>
                <a:path h="502677" w="793347">
                  <a:moveTo>
                    <a:pt x="131078" y="0"/>
                  </a:moveTo>
                  <a:lnTo>
                    <a:pt x="662269" y="0"/>
                  </a:lnTo>
                  <a:cubicBezTo>
                    <a:pt x="697033" y="0"/>
                    <a:pt x="730373" y="13810"/>
                    <a:pt x="754955" y="38392"/>
                  </a:cubicBezTo>
                  <a:cubicBezTo>
                    <a:pt x="779537" y="62974"/>
                    <a:pt x="793347" y="96314"/>
                    <a:pt x="793347" y="131078"/>
                  </a:cubicBezTo>
                  <a:lnTo>
                    <a:pt x="793347" y="371599"/>
                  </a:lnTo>
                  <a:cubicBezTo>
                    <a:pt x="793347" y="406363"/>
                    <a:pt x="779537" y="439703"/>
                    <a:pt x="754955" y="464285"/>
                  </a:cubicBezTo>
                  <a:cubicBezTo>
                    <a:pt x="730373" y="488867"/>
                    <a:pt x="697033" y="502677"/>
                    <a:pt x="662269" y="502677"/>
                  </a:cubicBezTo>
                  <a:lnTo>
                    <a:pt x="131078" y="502677"/>
                  </a:lnTo>
                  <a:cubicBezTo>
                    <a:pt x="96314" y="502677"/>
                    <a:pt x="62974" y="488867"/>
                    <a:pt x="38392" y="464285"/>
                  </a:cubicBezTo>
                  <a:cubicBezTo>
                    <a:pt x="13810" y="439703"/>
                    <a:pt x="0" y="406363"/>
                    <a:pt x="0" y="371599"/>
                  </a:cubicBezTo>
                  <a:lnTo>
                    <a:pt x="0" y="131078"/>
                  </a:lnTo>
                  <a:cubicBezTo>
                    <a:pt x="0" y="96314"/>
                    <a:pt x="13810" y="62974"/>
                    <a:pt x="38392" y="38392"/>
                  </a:cubicBezTo>
                  <a:cubicBezTo>
                    <a:pt x="62974" y="13810"/>
                    <a:pt x="96314" y="0"/>
                    <a:pt x="131078" y="0"/>
                  </a:cubicBezTo>
                  <a:close/>
                </a:path>
              </a:pathLst>
            </a:custGeom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57150"/>
              <a:ext cx="793347" cy="559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25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413583" y="3000315"/>
            <a:ext cx="3053876" cy="1908600"/>
            <a:chOff x="0" y="0"/>
            <a:chExt cx="804313" cy="50267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04313" cy="502677"/>
            </a:xfrm>
            <a:custGeom>
              <a:avLst/>
              <a:gdLst/>
              <a:ahLst/>
              <a:cxnLst/>
              <a:rect r="r" b="b" t="t" l="l"/>
              <a:pathLst>
                <a:path h="502677" w="804313">
                  <a:moveTo>
                    <a:pt x="129291" y="0"/>
                  </a:moveTo>
                  <a:lnTo>
                    <a:pt x="675022" y="0"/>
                  </a:lnTo>
                  <a:cubicBezTo>
                    <a:pt x="709312" y="0"/>
                    <a:pt x="742198" y="13622"/>
                    <a:pt x="766445" y="37868"/>
                  </a:cubicBezTo>
                  <a:cubicBezTo>
                    <a:pt x="790691" y="62115"/>
                    <a:pt x="804313" y="95001"/>
                    <a:pt x="804313" y="129291"/>
                  </a:cubicBezTo>
                  <a:lnTo>
                    <a:pt x="804313" y="373386"/>
                  </a:lnTo>
                  <a:cubicBezTo>
                    <a:pt x="804313" y="407676"/>
                    <a:pt x="790691" y="440561"/>
                    <a:pt x="766445" y="464808"/>
                  </a:cubicBezTo>
                  <a:cubicBezTo>
                    <a:pt x="742198" y="489055"/>
                    <a:pt x="709312" y="502677"/>
                    <a:pt x="675022" y="502677"/>
                  </a:cubicBezTo>
                  <a:lnTo>
                    <a:pt x="129291" y="502677"/>
                  </a:lnTo>
                  <a:cubicBezTo>
                    <a:pt x="95001" y="502677"/>
                    <a:pt x="62115" y="489055"/>
                    <a:pt x="37868" y="464808"/>
                  </a:cubicBezTo>
                  <a:cubicBezTo>
                    <a:pt x="13622" y="440561"/>
                    <a:pt x="0" y="407676"/>
                    <a:pt x="0" y="373386"/>
                  </a:cubicBezTo>
                  <a:lnTo>
                    <a:pt x="0" y="129291"/>
                  </a:lnTo>
                  <a:cubicBezTo>
                    <a:pt x="0" y="95001"/>
                    <a:pt x="13622" y="62115"/>
                    <a:pt x="37868" y="37868"/>
                  </a:cubicBezTo>
                  <a:cubicBezTo>
                    <a:pt x="62115" y="13622"/>
                    <a:pt x="95001" y="0"/>
                    <a:pt x="129291" y="0"/>
                  </a:cubicBezTo>
                  <a:close/>
                </a:path>
              </a:pathLst>
            </a:custGeom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57150"/>
              <a:ext cx="804313" cy="559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25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671782" y="3000315"/>
            <a:ext cx="3034709" cy="1908600"/>
            <a:chOff x="0" y="0"/>
            <a:chExt cx="799265" cy="502677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99265" cy="502677"/>
            </a:xfrm>
            <a:custGeom>
              <a:avLst/>
              <a:gdLst/>
              <a:ahLst/>
              <a:cxnLst/>
              <a:rect r="r" b="b" t="t" l="l"/>
              <a:pathLst>
                <a:path h="502677" w="799265">
                  <a:moveTo>
                    <a:pt x="130107" y="0"/>
                  </a:moveTo>
                  <a:lnTo>
                    <a:pt x="669158" y="0"/>
                  </a:lnTo>
                  <a:cubicBezTo>
                    <a:pt x="741014" y="0"/>
                    <a:pt x="799265" y="58251"/>
                    <a:pt x="799265" y="130107"/>
                  </a:cubicBezTo>
                  <a:lnTo>
                    <a:pt x="799265" y="372569"/>
                  </a:lnTo>
                  <a:cubicBezTo>
                    <a:pt x="799265" y="407076"/>
                    <a:pt x="785557" y="440169"/>
                    <a:pt x="761157" y="464569"/>
                  </a:cubicBezTo>
                  <a:cubicBezTo>
                    <a:pt x="736758" y="488969"/>
                    <a:pt x="703664" y="502677"/>
                    <a:pt x="669158" y="502677"/>
                  </a:cubicBezTo>
                  <a:lnTo>
                    <a:pt x="130107" y="502677"/>
                  </a:lnTo>
                  <a:cubicBezTo>
                    <a:pt x="95601" y="502677"/>
                    <a:pt x="62507" y="488969"/>
                    <a:pt x="38108" y="464569"/>
                  </a:cubicBezTo>
                  <a:cubicBezTo>
                    <a:pt x="13708" y="440169"/>
                    <a:pt x="0" y="407076"/>
                    <a:pt x="0" y="372569"/>
                  </a:cubicBezTo>
                  <a:lnTo>
                    <a:pt x="0" y="130107"/>
                  </a:lnTo>
                  <a:cubicBezTo>
                    <a:pt x="0" y="95601"/>
                    <a:pt x="13708" y="62507"/>
                    <a:pt x="38108" y="38108"/>
                  </a:cubicBezTo>
                  <a:cubicBezTo>
                    <a:pt x="62507" y="13708"/>
                    <a:pt x="95601" y="0"/>
                    <a:pt x="130107" y="0"/>
                  </a:cubicBezTo>
                  <a:close/>
                </a:path>
              </a:pathLst>
            </a:custGeom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799265" cy="559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25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13910815" y="3000315"/>
            <a:ext cx="2956624" cy="1908600"/>
            <a:chOff x="0" y="0"/>
            <a:chExt cx="778699" cy="50267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78699" cy="502677"/>
            </a:xfrm>
            <a:custGeom>
              <a:avLst/>
              <a:gdLst/>
              <a:ahLst/>
              <a:cxnLst/>
              <a:rect r="r" b="b" t="t" l="l"/>
              <a:pathLst>
                <a:path h="502677" w="778699">
                  <a:moveTo>
                    <a:pt x="133544" y="0"/>
                  </a:moveTo>
                  <a:lnTo>
                    <a:pt x="645156" y="0"/>
                  </a:lnTo>
                  <a:cubicBezTo>
                    <a:pt x="718910" y="0"/>
                    <a:pt x="778699" y="59789"/>
                    <a:pt x="778699" y="133544"/>
                  </a:cubicBezTo>
                  <a:lnTo>
                    <a:pt x="778699" y="369133"/>
                  </a:lnTo>
                  <a:cubicBezTo>
                    <a:pt x="778699" y="442887"/>
                    <a:pt x="718910" y="502677"/>
                    <a:pt x="645156" y="502677"/>
                  </a:cubicBezTo>
                  <a:lnTo>
                    <a:pt x="133544" y="502677"/>
                  </a:lnTo>
                  <a:cubicBezTo>
                    <a:pt x="59789" y="502677"/>
                    <a:pt x="0" y="442887"/>
                    <a:pt x="0" y="369133"/>
                  </a:cubicBezTo>
                  <a:lnTo>
                    <a:pt x="0" y="133544"/>
                  </a:lnTo>
                  <a:cubicBezTo>
                    <a:pt x="0" y="59789"/>
                    <a:pt x="59789" y="0"/>
                    <a:pt x="133544" y="0"/>
                  </a:cubicBezTo>
                  <a:close/>
                </a:path>
              </a:pathLst>
            </a:custGeom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778699" cy="55982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25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217844" y="9242082"/>
            <a:ext cx="1269591" cy="62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3357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09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87435" y="1459978"/>
            <a:ext cx="7100888" cy="1086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17"/>
              </a:lnSpc>
            </a:pPr>
            <a:r>
              <a:rPr lang="en-US" sz="6896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Data Exploration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986762" y="5051790"/>
            <a:ext cx="7157833" cy="50539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Key Findings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NO2 and CO have declined significantly since 2000 — likely due to stricter vehicle emission standards.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O3 shows seasonal spikes in summer months, peaking in hot inland cities.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SO2 has </a:t>
            </a: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the sharpest decline — attributed to power plant regulations.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Urb</a:t>
            </a: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an areas consistently show 2–4× higher AQI values than rural areas.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Missing values are most common in the CO field — requires imputation strategy.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197021" y="2461200"/>
            <a:ext cx="6589990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Initial findings from exploratory data analysis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487435" y="3437951"/>
            <a:ext cx="2392323" cy="89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~20 ppb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487435" y="3165536"/>
            <a:ext cx="631984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5A7A8A"/>
                </a:solidFill>
                <a:latin typeface="Codec Pro"/>
                <a:ea typeface="Codec Pro"/>
                <a:cs typeface="Codec Pro"/>
                <a:sym typeface="Codec Pro"/>
              </a:rPr>
              <a:t>NO2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487435" y="4268531"/>
            <a:ext cx="1674257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A7A8A"/>
                </a:solidFill>
                <a:latin typeface="Codec Pro"/>
                <a:ea typeface="Codec Pro"/>
                <a:cs typeface="Codec Pro"/>
                <a:sym typeface="Codec Pro"/>
              </a:rPr>
              <a:t>avg da</a:t>
            </a:r>
            <a:r>
              <a:rPr lang="en-US" sz="1800">
                <a:solidFill>
                  <a:srgbClr val="5A7A8A"/>
                </a:solidFill>
                <a:latin typeface="Codec Pro"/>
                <a:ea typeface="Codec Pro"/>
                <a:cs typeface="Codec Pro"/>
                <a:sym typeface="Codec Pro"/>
              </a:rPr>
              <a:t>ily mean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5593596" y="3437951"/>
            <a:ext cx="2392323" cy="89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~20 ppb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593596" y="3165536"/>
            <a:ext cx="402431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5A7A8A"/>
                </a:solidFill>
                <a:latin typeface="Codec Pro"/>
                <a:ea typeface="Codec Pro"/>
                <a:cs typeface="Codec Pro"/>
                <a:sym typeface="Codec Pro"/>
              </a:rPr>
              <a:t>O3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5593596" y="4268531"/>
            <a:ext cx="1674257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A7A8A"/>
                </a:solidFill>
                <a:latin typeface="Codec Pro"/>
                <a:ea typeface="Codec Pro"/>
                <a:cs typeface="Codec Pro"/>
                <a:sym typeface="Codec Pro"/>
              </a:rPr>
              <a:t>avg da</a:t>
            </a:r>
            <a:r>
              <a:rPr lang="en-US" sz="1800">
                <a:solidFill>
                  <a:srgbClr val="5A7A8A"/>
                </a:solidFill>
                <a:latin typeface="Codec Pro"/>
                <a:ea typeface="Codec Pro"/>
                <a:cs typeface="Codec Pro"/>
                <a:sym typeface="Codec Pro"/>
              </a:rPr>
              <a:t>ily mean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890169" y="3437951"/>
            <a:ext cx="2392323" cy="89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~20 ppb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890169" y="3165536"/>
            <a:ext cx="584835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5A7A8A"/>
                </a:solidFill>
                <a:latin typeface="Codec Pro"/>
                <a:ea typeface="Codec Pro"/>
                <a:cs typeface="Codec Pro"/>
                <a:sym typeface="Codec Pro"/>
              </a:rPr>
              <a:t>SO2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890169" y="4268531"/>
            <a:ext cx="1674257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A7A8A"/>
                </a:solidFill>
                <a:latin typeface="Codec Pro"/>
                <a:ea typeface="Codec Pro"/>
                <a:cs typeface="Codec Pro"/>
                <a:sym typeface="Codec Pro"/>
              </a:rPr>
              <a:t>avg da</a:t>
            </a:r>
            <a:r>
              <a:rPr lang="en-US" sz="1800">
                <a:solidFill>
                  <a:srgbClr val="5A7A8A"/>
                </a:solidFill>
                <a:latin typeface="Codec Pro"/>
                <a:ea typeface="Codec Pro"/>
                <a:cs typeface="Codec Pro"/>
                <a:sym typeface="Codec Pro"/>
              </a:rPr>
              <a:t>ily mean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238579" y="3437951"/>
            <a:ext cx="2392323" cy="897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719"/>
              </a:lnSpc>
            </a:pPr>
            <a:r>
              <a:rPr lang="en-US" sz="4800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~20 ppb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4201229" y="3165536"/>
            <a:ext cx="465177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5A7A8A"/>
                </a:solidFill>
                <a:latin typeface="Codec Pro"/>
                <a:ea typeface="Codec Pro"/>
                <a:cs typeface="Codec Pro"/>
                <a:sym typeface="Codec Pro"/>
              </a:rPr>
              <a:t>CO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4201229" y="4268531"/>
            <a:ext cx="1674257" cy="335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20"/>
              </a:lnSpc>
            </a:pPr>
            <a:r>
              <a:rPr lang="en-US" sz="1800">
                <a:solidFill>
                  <a:srgbClr val="5A7A8A"/>
                </a:solidFill>
                <a:latin typeface="Codec Pro"/>
                <a:ea typeface="Codec Pro"/>
                <a:cs typeface="Codec Pro"/>
                <a:sym typeface="Codec Pro"/>
              </a:rPr>
              <a:t>avg da</a:t>
            </a:r>
            <a:r>
              <a:rPr lang="en-US" sz="1800">
                <a:solidFill>
                  <a:srgbClr val="5A7A8A"/>
                </a:solidFill>
                <a:latin typeface="Codec Pro"/>
                <a:ea typeface="Codec Pro"/>
                <a:cs typeface="Codec Pro"/>
                <a:sym typeface="Codec Pro"/>
              </a:rPr>
              <a:t>ily mean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9965" y="650381"/>
            <a:ext cx="917470" cy="756638"/>
          </a:xfrm>
          <a:custGeom>
            <a:avLst/>
            <a:gdLst/>
            <a:ahLst/>
            <a:cxnLst/>
            <a:rect r="r" b="b" t="t" l="l"/>
            <a:pathLst>
              <a:path h="756638" w="917470">
                <a:moveTo>
                  <a:pt x="0" y="0"/>
                </a:moveTo>
                <a:lnTo>
                  <a:pt x="917470" y="0"/>
                </a:lnTo>
                <a:lnTo>
                  <a:pt x="917470" y="756638"/>
                </a:lnTo>
                <a:lnTo>
                  <a:pt x="0" y="7566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>
            <a:off x="1487435" y="9599490"/>
            <a:ext cx="9613604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625521" y="3000315"/>
            <a:ext cx="8119789" cy="2143185"/>
            <a:chOff x="0" y="0"/>
            <a:chExt cx="2138545" cy="56446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38545" cy="564460"/>
            </a:xfrm>
            <a:custGeom>
              <a:avLst/>
              <a:gdLst/>
              <a:ahLst/>
              <a:cxnLst/>
              <a:rect r="r" b="b" t="t" l="l"/>
              <a:pathLst>
                <a:path h="564460" w="2138545">
                  <a:moveTo>
                    <a:pt x="48627" y="0"/>
                  </a:moveTo>
                  <a:lnTo>
                    <a:pt x="2089919" y="0"/>
                  </a:lnTo>
                  <a:cubicBezTo>
                    <a:pt x="2102815" y="0"/>
                    <a:pt x="2115183" y="5123"/>
                    <a:pt x="2124303" y="14242"/>
                  </a:cubicBezTo>
                  <a:cubicBezTo>
                    <a:pt x="2133422" y="23362"/>
                    <a:pt x="2138545" y="35730"/>
                    <a:pt x="2138545" y="48627"/>
                  </a:cubicBezTo>
                  <a:lnTo>
                    <a:pt x="2138545" y="515834"/>
                  </a:lnTo>
                  <a:cubicBezTo>
                    <a:pt x="2138545" y="528730"/>
                    <a:pt x="2133422" y="541099"/>
                    <a:pt x="2124303" y="550218"/>
                  </a:cubicBezTo>
                  <a:cubicBezTo>
                    <a:pt x="2115183" y="559337"/>
                    <a:pt x="2102815" y="564460"/>
                    <a:pt x="2089919" y="564460"/>
                  </a:cubicBezTo>
                  <a:lnTo>
                    <a:pt x="48627" y="564460"/>
                  </a:lnTo>
                  <a:cubicBezTo>
                    <a:pt x="21771" y="564460"/>
                    <a:pt x="0" y="542689"/>
                    <a:pt x="0" y="515834"/>
                  </a:cubicBezTo>
                  <a:lnTo>
                    <a:pt x="0" y="48627"/>
                  </a:lnTo>
                  <a:cubicBezTo>
                    <a:pt x="0" y="21771"/>
                    <a:pt x="21771" y="0"/>
                    <a:pt x="48627" y="0"/>
                  </a:cubicBezTo>
                  <a:close/>
                </a:path>
              </a:pathLst>
            </a:custGeom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57150"/>
              <a:ext cx="2138545" cy="6216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25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217844" y="9242082"/>
            <a:ext cx="1269591" cy="62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3357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10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487435" y="1459978"/>
            <a:ext cx="9482495" cy="1086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17"/>
              </a:lnSpc>
            </a:pPr>
            <a:r>
              <a:rPr lang="en-US" sz="6896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Preprocessing Pipeline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0186" y="3290054"/>
            <a:ext cx="7157833" cy="1582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01 Load &amp; Inspect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Loaded the CSV into Python (pandas).</a:t>
            </a:r>
            <a:r>
              <a:rPr lang="en-US" sz="22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Verified column types, checked for null values, counted unique sites and date ranges.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197021" y="2461200"/>
            <a:ext cx="6644164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Steps taken to clean and prepare the dataset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8979567" y="3000315"/>
            <a:ext cx="8992497" cy="2143185"/>
            <a:chOff x="0" y="0"/>
            <a:chExt cx="2368394" cy="56446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368394" cy="564460"/>
            </a:xfrm>
            <a:custGeom>
              <a:avLst/>
              <a:gdLst/>
              <a:ahLst/>
              <a:cxnLst/>
              <a:rect r="r" b="b" t="t" l="l"/>
              <a:pathLst>
                <a:path h="564460" w="2368394">
                  <a:moveTo>
                    <a:pt x="43907" y="0"/>
                  </a:moveTo>
                  <a:lnTo>
                    <a:pt x="2324487" y="0"/>
                  </a:lnTo>
                  <a:cubicBezTo>
                    <a:pt x="2348736" y="0"/>
                    <a:pt x="2368394" y="19658"/>
                    <a:pt x="2368394" y="43907"/>
                  </a:cubicBezTo>
                  <a:lnTo>
                    <a:pt x="2368394" y="520553"/>
                  </a:lnTo>
                  <a:cubicBezTo>
                    <a:pt x="2368394" y="532198"/>
                    <a:pt x="2363769" y="543366"/>
                    <a:pt x="2355534" y="551600"/>
                  </a:cubicBezTo>
                  <a:cubicBezTo>
                    <a:pt x="2347300" y="559834"/>
                    <a:pt x="2336132" y="564460"/>
                    <a:pt x="2324487" y="564460"/>
                  </a:cubicBezTo>
                  <a:lnTo>
                    <a:pt x="43907" y="564460"/>
                  </a:lnTo>
                  <a:cubicBezTo>
                    <a:pt x="32262" y="564460"/>
                    <a:pt x="21094" y="559834"/>
                    <a:pt x="12860" y="551600"/>
                  </a:cubicBezTo>
                  <a:cubicBezTo>
                    <a:pt x="4626" y="543366"/>
                    <a:pt x="0" y="532198"/>
                    <a:pt x="0" y="520553"/>
                  </a:cubicBezTo>
                  <a:lnTo>
                    <a:pt x="0" y="43907"/>
                  </a:lnTo>
                  <a:cubicBezTo>
                    <a:pt x="0" y="32262"/>
                    <a:pt x="4626" y="21094"/>
                    <a:pt x="12860" y="12860"/>
                  </a:cubicBezTo>
                  <a:cubicBezTo>
                    <a:pt x="21094" y="4626"/>
                    <a:pt x="32262" y="0"/>
                    <a:pt x="43907" y="0"/>
                  </a:cubicBezTo>
                  <a:close/>
                </a:path>
              </a:pathLst>
            </a:custGeom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2368394" cy="6216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25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25521" y="5300494"/>
            <a:ext cx="8119789" cy="1922838"/>
            <a:chOff x="0" y="0"/>
            <a:chExt cx="2138545" cy="506427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138545" cy="506427"/>
            </a:xfrm>
            <a:custGeom>
              <a:avLst/>
              <a:gdLst/>
              <a:ahLst/>
              <a:cxnLst/>
              <a:rect r="r" b="b" t="t" l="l"/>
              <a:pathLst>
                <a:path h="506427" w="2138545">
                  <a:moveTo>
                    <a:pt x="48627" y="0"/>
                  </a:moveTo>
                  <a:lnTo>
                    <a:pt x="2089919" y="0"/>
                  </a:lnTo>
                  <a:cubicBezTo>
                    <a:pt x="2102815" y="0"/>
                    <a:pt x="2115183" y="5123"/>
                    <a:pt x="2124303" y="14242"/>
                  </a:cubicBezTo>
                  <a:cubicBezTo>
                    <a:pt x="2133422" y="23362"/>
                    <a:pt x="2138545" y="35730"/>
                    <a:pt x="2138545" y="48627"/>
                  </a:cubicBezTo>
                  <a:lnTo>
                    <a:pt x="2138545" y="457800"/>
                  </a:lnTo>
                  <a:cubicBezTo>
                    <a:pt x="2138545" y="484656"/>
                    <a:pt x="2116774" y="506427"/>
                    <a:pt x="2089919" y="506427"/>
                  </a:cubicBezTo>
                  <a:lnTo>
                    <a:pt x="48627" y="506427"/>
                  </a:lnTo>
                  <a:cubicBezTo>
                    <a:pt x="21771" y="506427"/>
                    <a:pt x="0" y="484656"/>
                    <a:pt x="0" y="457800"/>
                  </a:cubicBezTo>
                  <a:lnTo>
                    <a:pt x="0" y="48627"/>
                  </a:lnTo>
                  <a:cubicBezTo>
                    <a:pt x="0" y="21771"/>
                    <a:pt x="21771" y="0"/>
                    <a:pt x="48627" y="0"/>
                  </a:cubicBezTo>
                  <a:close/>
                </a:path>
              </a:pathLst>
            </a:custGeom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57150"/>
              <a:ext cx="2138545" cy="5635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25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979567" y="5300494"/>
            <a:ext cx="8992497" cy="1922838"/>
            <a:chOff x="0" y="0"/>
            <a:chExt cx="2368394" cy="50642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368394" cy="506427"/>
            </a:xfrm>
            <a:custGeom>
              <a:avLst/>
              <a:gdLst/>
              <a:ahLst/>
              <a:cxnLst/>
              <a:rect r="r" b="b" t="t" l="l"/>
              <a:pathLst>
                <a:path h="506427" w="2368394">
                  <a:moveTo>
                    <a:pt x="43907" y="0"/>
                  </a:moveTo>
                  <a:lnTo>
                    <a:pt x="2324487" y="0"/>
                  </a:lnTo>
                  <a:cubicBezTo>
                    <a:pt x="2348736" y="0"/>
                    <a:pt x="2368394" y="19658"/>
                    <a:pt x="2368394" y="43907"/>
                  </a:cubicBezTo>
                  <a:lnTo>
                    <a:pt x="2368394" y="462519"/>
                  </a:lnTo>
                  <a:cubicBezTo>
                    <a:pt x="2368394" y="474164"/>
                    <a:pt x="2363769" y="485332"/>
                    <a:pt x="2355534" y="493566"/>
                  </a:cubicBezTo>
                  <a:cubicBezTo>
                    <a:pt x="2347300" y="501801"/>
                    <a:pt x="2336132" y="506427"/>
                    <a:pt x="2324487" y="506427"/>
                  </a:cubicBezTo>
                  <a:lnTo>
                    <a:pt x="43907" y="506427"/>
                  </a:lnTo>
                  <a:cubicBezTo>
                    <a:pt x="19658" y="506427"/>
                    <a:pt x="0" y="486768"/>
                    <a:pt x="0" y="462519"/>
                  </a:cubicBezTo>
                  <a:lnTo>
                    <a:pt x="0" y="43907"/>
                  </a:lnTo>
                  <a:cubicBezTo>
                    <a:pt x="0" y="32262"/>
                    <a:pt x="4626" y="21094"/>
                    <a:pt x="12860" y="12860"/>
                  </a:cubicBezTo>
                  <a:cubicBezTo>
                    <a:pt x="21094" y="4626"/>
                    <a:pt x="32262" y="0"/>
                    <a:pt x="43907" y="0"/>
                  </a:cubicBezTo>
                  <a:close/>
                </a:path>
              </a:pathLst>
            </a:custGeom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57150"/>
              <a:ext cx="2368394" cy="5635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25"/>
                </a:lnSpc>
              </a:pP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625521" y="7380326"/>
            <a:ext cx="8119789" cy="1985580"/>
            <a:chOff x="0" y="0"/>
            <a:chExt cx="2138545" cy="52295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138545" cy="522951"/>
            </a:xfrm>
            <a:custGeom>
              <a:avLst/>
              <a:gdLst/>
              <a:ahLst/>
              <a:cxnLst/>
              <a:rect r="r" b="b" t="t" l="l"/>
              <a:pathLst>
                <a:path h="522951" w="2138545">
                  <a:moveTo>
                    <a:pt x="48627" y="0"/>
                  </a:moveTo>
                  <a:lnTo>
                    <a:pt x="2089919" y="0"/>
                  </a:lnTo>
                  <a:cubicBezTo>
                    <a:pt x="2102815" y="0"/>
                    <a:pt x="2115183" y="5123"/>
                    <a:pt x="2124303" y="14242"/>
                  </a:cubicBezTo>
                  <a:cubicBezTo>
                    <a:pt x="2133422" y="23362"/>
                    <a:pt x="2138545" y="35730"/>
                    <a:pt x="2138545" y="48627"/>
                  </a:cubicBezTo>
                  <a:lnTo>
                    <a:pt x="2138545" y="474325"/>
                  </a:lnTo>
                  <a:cubicBezTo>
                    <a:pt x="2138545" y="501180"/>
                    <a:pt x="2116774" y="522951"/>
                    <a:pt x="2089919" y="522951"/>
                  </a:cubicBezTo>
                  <a:lnTo>
                    <a:pt x="48627" y="522951"/>
                  </a:lnTo>
                  <a:cubicBezTo>
                    <a:pt x="35730" y="522951"/>
                    <a:pt x="23362" y="517828"/>
                    <a:pt x="14242" y="508709"/>
                  </a:cubicBezTo>
                  <a:cubicBezTo>
                    <a:pt x="5123" y="499590"/>
                    <a:pt x="0" y="487221"/>
                    <a:pt x="0" y="474325"/>
                  </a:cubicBezTo>
                  <a:lnTo>
                    <a:pt x="0" y="48627"/>
                  </a:lnTo>
                  <a:cubicBezTo>
                    <a:pt x="0" y="21771"/>
                    <a:pt x="21771" y="0"/>
                    <a:pt x="48627" y="0"/>
                  </a:cubicBezTo>
                  <a:close/>
                </a:path>
              </a:pathLst>
            </a:custGeom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2" id="22"/>
            <p:cNvSpPr txBox="true"/>
            <p:nvPr/>
          </p:nvSpPr>
          <p:spPr>
            <a:xfrm>
              <a:off x="0" y="-57150"/>
              <a:ext cx="2138545" cy="5801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25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8979567" y="7380326"/>
            <a:ext cx="8992497" cy="1985580"/>
            <a:chOff x="0" y="0"/>
            <a:chExt cx="2368394" cy="52295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368394" cy="522951"/>
            </a:xfrm>
            <a:custGeom>
              <a:avLst/>
              <a:gdLst/>
              <a:ahLst/>
              <a:cxnLst/>
              <a:rect r="r" b="b" t="t" l="l"/>
              <a:pathLst>
                <a:path h="522951" w="2368394">
                  <a:moveTo>
                    <a:pt x="43907" y="0"/>
                  </a:moveTo>
                  <a:lnTo>
                    <a:pt x="2324487" y="0"/>
                  </a:lnTo>
                  <a:cubicBezTo>
                    <a:pt x="2348736" y="0"/>
                    <a:pt x="2368394" y="19658"/>
                    <a:pt x="2368394" y="43907"/>
                  </a:cubicBezTo>
                  <a:lnTo>
                    <a:pt x="2368394" y="479044"/>
                  </a:lnTo>
                  <a:cubicBezTo>
                    <a:pt x="2368394" y="490689"/>
                    <a:pt x="2363769" y="501857"/>
                    <a:pt x="2355534" y="510091"/>
                  </a:cubicBezTo>
                  <a:cubicBezTo>
                    <a:pt x="2347300" y="518325"/>
                    <a:pt x="2336132" y="522951"/>
                    <a:pt x="2324487" y="522951"/>
                  </a:cubicBezTo>
                  <a:lnTo>
                    <a:pt x="43907" y="522951"/>
                  </a:lnTo>
                  <a:cubicBezTo>
                    <a:pt x="32262" y="522951"/>
                    <a:pt x="21094" y="518325"/>
                    <a:pt x="12860" y="510091"/>
                  </a:cubicBezTo>
                  <a:cubicBezTo>
                    <a:pt x="4626" y="501857"/>
                    <a:pt x="0" y="490689"/>
                    <a:pt x="0" y="479044"/>
                  </a:cubicBezTo>
                  <a:lnTo>
                    <a:pt x="0" y="43907"/>
                  </a:lnTo>
                  <a:cubicBezTo>
                    <a:pt x="0" y="32262"/>
                    <a:pt x="4626" y="21094"/>
                    <a:pt x="12860" y="12860"/>
                  </a:cubicBezTo>
                  <a:cubicBezTo>
                    <a:pt x="21094" y="4626"/>
                    <a:pt x="32262" y="0"/>
                    <a:pt x="43907" y="0"/>
                  </a:cubicBezTo>
                  <a:close/>
                </a:path>
              </a:pathLst>
            </a:custGeom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57150"/>
              <a:ext cx="2368394" cy="58010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25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940186" y="5416930"/>
            <a:ext cx="7157833" cy="1582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02 Missing Values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CO field has the most NaNs.</a:t>
            </a:r>
            <a:r>
              <a:rPr lang="en-US" sz="22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Strategy: drop rows missing &gt;2 pollutants; interpolate single-pollutant gaps using date-aware forward-fill within each site.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40186" y="7543807"/>
            <a:ext cx="7157833" cy="1582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03 Deduplication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Multiple sensors at same site on same day.</a:t>
            </a:r>
            <a:r>
              <a:rPr lang="en-US" sz="22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Resolved by grouping by (State, County, City, Date) and averaging numeric fields.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207142" y="3290054"/>
            <a:ext cx="7157833" cy="1582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04 Feature Engineering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Extracted Year, Month, DayOfWeek, Season and</a:t>
            </a:r>
            <a:r>
              <a:rPr lang="en-US" sz="22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IsWeekend from Date Local. Label-encoded State, County, City for ML use.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9207142" y="5612193"/>
            <a:ext cx="7157833" cy="1191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05 Normalisation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To make different</a:t>
            </a:r>
            <a:r>
              <a:rPr lang="en-US" sz="22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pollutants comparable in visualizations.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9207142" y="7543807"/>
            <a:ext cx="8764922" cy="1582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0"/>
              </a:lnSpc>
            </a:pPr>
            <a:r>
              <a:rPr lang="en-US" sz="2200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06 Export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Export two datasets: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(a) Cleaned dataset for visualization (original scales</a:t>
            </a:r>
            <a:r>
              <a:rPr lang="en-US" sz="22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preserved),</a:t>
            </a:r>
          </a:p>
          <a:p>
            <a:pPr algn="l">
              <a:lnSpc>
                <a:spcPts val="3080"/>
              </a:lnSpc>
            </a:pPr>
            <a:r>
              <a:rPr lang="en-US" sz="22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(b) Normalized dataset for analysis and modeling purposes.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9965" y="650381"/>
            <a:ext cx="917470" cy="756638"/>
          </a:xfrm>
          <a:custGeom>
            <a:avLst/>
            <a:gdLst/>
            <a:ahLst/>
            <a:cxnLst/>
            <a:rect r="r" b="b" t="t" l="l"/>
            <a:pathLst>
              <a:path h="756638" w="917470">
                <a:moveTo>
                  <a:pt x="0" y="0"/>
                </a:moveTo>
                <a:lnTo>
                  <a:pt x="917470" y="0"/>
                </a:lnTo>
                <a:lnTo>
                  <a:pt x="917470" y="756638"/>
                </a:lnTo>
                <a:lnTo>
                  <a:pt x="0" y="7566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>
            <a:off x="1487435" y="9599490"/>
            <a:ext cx="9613604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217844" y="9242082"/>
            <a:ext cx="1269591" cy="62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3357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11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87435" y="1459978"/>
            <a:ext cx="10073998" cy="1086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17"/>
              </a:lnSpc>
            </a:pPr>
            <a:r>
              <a:rPr lang="en-US" sz="6896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Framework Justification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97021" y="3013261"/>
            <a:ext cx="10645686" cy="421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Strengths of D3.js for this project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Full programmatic control over every visual element and interaction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Native support for SVG-based time series, bar charts and heatmaps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Seamless in</a:t>
            </a: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tegration with Leaflet.js for geospatial choropleth maps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B</a:t>
            </a: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rushi</a:t>
            </a: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ng and linking between views is a D3 strength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Widely used in academic and journalistic vis — appropriate for this course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Large ecosystem: topojson for U.S. state boundaries, d3-annotation for callouts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97021" y="2461200"/>
            <a:ext cx="3169206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Why D3.js + Leaflet.js?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97021" y="7295701"/>
            <a:ext cx="11947090" cy="21202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Challenges &amp; how we will address them</a:t>
            </a:r>
          </a:p>
          <a:p>
            <a:pPr algn="l">
              <a:lnSpc>
                <a:spcPts val="3359"/>
              </a:lnSpc>
            </a:pP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Steeper learning curve than Plot.ly or Bokeh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More boilerplate code required for basic charts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No</a:t>
            </a: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buil</a:t>
            </a: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t-in dashboard layout — requires manual CSS/HTML structure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1842707" y="2546925"/>
            <a:ext cx="6239782" cy="5413307"/>
            <a:chOff x="0" y="0"/>
            <a:chExt cx="1643399" cy="142572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643399" cy="1425727"/>
            </a:xfrm>
            <a:custGeom>
              <a:avLst/>
              <a:gdLst/>
              <a:ahLst/>
              <a:cxnLst/>
              <a:rect r="r" b="b" t="t" l="l"/>
              <a:pathLst>
                <a:path h="1425727" w="1643399">
                  <a:moveTo>
                    <a:pt x="63278" y="0"/>
                  </a:moveTo>
                  <a:lnTo>
                    <a:pt x="1580122" y="0"/>
                  </a:lnTo>
                  <a:cubicBezTo>
                    <a:pt x="1615069" y="0"/>
                    <a:pt x="1643399" y="28330"/>
                    <a:pt x="1643399" y="63278"/>
                  </a:cubicBezTo>
                  <a:lnTo>
                    <a:pt x="1643399" y="1362450"/>
                  </a:lnTo>
                  <a:cubicBezTo>
                    <a:pt x="1643399" y="1379232"/>
                    <a:pt x="1636733" y="1395327"/>
                    <a:pt x="1624866" y="1407194"/>
                  </a:cubicBezTo>
                  <a:cubicBezTo>
                    <a:pt x="1612999" y="1419060"/>
                    <a:pt x="1596904" y="1425727"/>
                    <a:pt x="1580122" y="1425727"/>
                  </a:cubicBezTo>
                  <a:lnTo>
                    <a:pt x="63278" y="1425727"/>
                  </a:lnTo>
                  <a:cubicBezTo>
                    <a:pt x="46495" y="1425727"/>
                    <a:pt x="30400" y="1419060"/>
                    <a:pt x="18534" y="1407194"/>
                  </a:cubicBezTo>
                  <a:cubicBezTo>
                    <a:pt x="6667" y="1395327"/>
                    <a:pt x="0" y="1379232"/>
                    <a:pt x="0" y="1362450"/>
                  </a:cubicBezTo>
                  <a:lnTo>
                    <a:pt x="0" y="63278"/>
                  </a:lnTo>
                  <a:cubicBezTo>
                    <a:pt x="0" y="46495"/>
                    <a:pt x="6667" y="30400"/>
                    <a:pt x="18534" y="18534"/>
                  </a:cubicBezTo>
                  <a:cubicBezTo>
                    <a:pt x="30400" y="6667"/>
                    <a:pt x="46495" y="0"/>
                    <a:pt x="63278" y="0"/>
                  </a:cubicBezTo>
                  <a:close/>
                </a:path>
              </a:pathLst>
            </a:custGeom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57150"/>
              <a:ext cx="1643399" cy="148287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525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12047164" y="2851336"/>
            <a:ext cx="5830376" cy="4796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</a:pPr>
            <a:r>
              <a:rPr lang="en-US" sz="3199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Why not alternatives?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Tableau / Power BI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Not allowed per assignment rules.</a:t>
            </a: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Plot.ly / Bokeh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Less flexibility for linked spatial+temporal views.</a:t>
            </a:r>
          </a:p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R Shiny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Better for statistical output; less</a:t>
            </a: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 sui</a:t>
            </a: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table for rich interactive web dashboards.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9965" y="650381"/>
            <a:ext cx="917470" cy="756638"/>
          </a:xfrm>
          <a:custGeom>
            <a:avLst/>
            <a:gdLst/>
            <a:ahLst/>
            <a:cxnLst/>
            <a:rect r="r" b="b" t="t" l="l"/>
            <a:pathLst>
              <a:path h="756638" w="917470">
                <a:moveTo>
                  <a:pt x="0" y="0"/>
                </a:moveTo>
                <a:lnTo>
                  <a:pt x="917470" y="0"/>
                </a:lnTo>
                <a:lnTo>
                  <a:pt x="917470" y="756638"/>
                </a:lnTo>
                <a:lnTo>
                  <a:pt x="0" y="7566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>
            <a:off x="1487435" y="9599490"/>
            <a:ext cx="9613604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379161" y="3331785"/>
            <a:ext cx="3113008" cy="755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00"/>
              </a:lnSpc>
            </a:pPr>
            <a:r>
              <a:rPr lang="en-US" sz="4000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Primary User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17844" y="9242082"/>
            <a:ext cx="1269591" cy="62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3357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12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7435" y="1459978"/>
            <a:ext cx="7188994" cy="1086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17"/>
              </a:lnSpc>
            </a:pPr>
            <a:r>
              <a:rPr lang="en-US" sz="6896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Design principles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79161" y="4273816"/>
            <a:ext cx="8380929" cy="421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Explain the final design decisions:</a:t>
            </a:r>
          </a:p>
          <a:p>
            <a:pPr algn="l">
              <a:lnSpc>
                <a:spcPts val="3359"/>
              </a:lnSpc>
            </a:pP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• Default overview fits on one screen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• Map is the main visual anchor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• Secondary views are se</a:t>
            </a: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parated from the overview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• Consistent pollutant colours across charts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• Overview = quick understanding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• State Profile and Compare = deeper analysis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• Removed unsafe free resizing because it caused overlap </a:t>
            </a:r>
          </a:p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• Focus mode only for the map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97021" y="2461200"/>
            <a:ext cx="8171259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Who are we designing for, and what do they need to do?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9965" y="650381"/>
            <a:ext cx="917470" cy="756638"/>
          </a:xfrm>
          <a:custGeom>
            <a:avLst/>
            <a:gdLst/>
            <a:ahLst/>
            <a:cxnLst/>
            <a:rect r="r" b="b" t="t" l="l"/>
            <a:pathLst>
              <a:path h="756638" w="917470">
                <a:moveTo>
                  <a:pt x="0" y="0"/>
                </a:moveTo>
                <a:lnTo>
                  <a:pt x="917470" y="0"/>
                </a:lnTo>
                <a:lnTo>
                  <a:pt x="917470" y="756638"/>
                </a:lnTo>
                <a:lnTo>
                  <a:pt x="0" y="7566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>
            <a:off x="1487435" y="9599490"/>
            <a:ext cx="9613604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9797423" y="3558529"/>
            <a:ext cx="8127241" cy="4571573"/>
          </a:xfrm>
          <a:custGeom>
            <a:avLst/>
            <a:gdLst/>
            <a:ahLst/>
            <a:cxnLst/>
            <a:rect r="r" b="b" t="t" l="l"/>
            <a:pathLst>
              <a:path h="4571573" w="8127241">
                <a:moveTo>
                  <a:pt x="0" y="0"/>
                </a:moveTo>
                <a:lnTo>
                  <a:pt x="8127241" y="0"/>
                </a:lnTo>
                <a:lnTo>
                  <a:pt x="8127241" y="4571574"/>
                </a:lnTo>
                <a:lnTo>
                  <a:pt x="0" y="45715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60" t="0" r="-6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63336" y="3558529"/>
            <a:ext cx="8127241" cy="4571573"/>
          </a:xfrm>
          <a:custGeom>
            <a:avLst/>
            <a:gdLst/>
            <a:ahLst/>
            <a:cxnLst/>
            <a:rect r="r" b="b" t="t" l="l"/>
            <a:pathLst>
              <a:path h="4571573" w="8127241">
                <a:moveTo>
                  <a:pt x="0" y="0"/>
                </a:moveTo>
                <a:lnTo>
                  <a:pt x="8127241" y="0"/>
                </a:lnTo>
                <a:lnTo>
                  <a:pt x="8127241" y="4571574"/>
                </a:lnTo>
                <a:lnTo>
                  <a:pt x="0" y="45715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10800000">
            <a:off x="8600257" y="5430894"/>
            <a:ext cx="1087485" cy="826844"/>
            <a:chOff x="0" y="0"/>
            <a:chExt cx="647700" cy="49246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647700" cy="492463"/>
            </a:xfrm>
            <a:custGeom>
              <a:avLst/>
              <a:gdLst/>
              <a:ahLst/>
              <a:cxnLst/>
              <a:rect r="r" b="b" t="t" l="l"/>
              <a:pathLst>
                <a:path h="492463" w="647700">
                  <a:moveTo>
                    <a:pt x="239386" y="166153"/>
                  </a:moveTo>
                  <a:lnTo>
                    <a:pt x="647700" y="166153"/>
                  </a:lnTo>
                  <a:lnTo>
                    <a:pt x="647700" y="326279"/>
                  </a:lnTo>
                  <a:lnTo>
                    <a:pt x="239373" y="326279"/>
                  </a:lnTo>
                  <a:lnTo>
                    <a:pt x="302255" y="492463"/>
                  </a:lnTo>
                  <a:lnTo>
                    <a:pt x="0" y="246232"/>
                  </a:lnTo>
                  <a:lnTo>
                    <a:pt x="302255" y="0"/>
                  </a:lnTo>
                  <a:lnTo>
                    <a:pt x="239386" y="166153"/>
                  </a:ln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120650" y="79375"/>
              <a:ext cx="527050" cy="2479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3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17844" y="9242082"/>
            <a:ext cx="1269591" cy="62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3357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13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87435" y="1459978"/>
            <a:ext cx="7786807" cy="1086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17"/>
              </a:lnSpc>
            </a:pPr>
            <a:r>
              <a:rPr lang="en-US" sz="6896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Dashboard Design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079109" y="8352763"/>
            <a:ext cx="4033599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Our first Dashboard Design 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2531770" y="8352763"/>
            <a:ext cx="3996571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Our Dashboard Design now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9965" y="650381"/>
            <a:ext cx="917470" cy="756638"/>
          </a:xfrm>
          <a:custGeom>
            <a:avLst/>
            <a:gdLst/>
            <a:ahLst/>
            <a:cxnLst/>
            <a:rect r="r" b="b" t="t" l="l"/>
            <a:pathLst>
              <a:path h="756638" w="917470">
                <a:moveTo>
                  <a:pt x="0" y="0"/>
                </a:moveTo>
                <a:lnTo>
                  <a:pt x="917470" y="0"/>
                </a:lnTo>
                <a:lnTo>
                  <a:pt x="917470" y="756638"/>
                </a:lnTo>
                <a:lnTo>
                  <a:pt x="0" y="7566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>
            <a:off x="1487435" y="9599490"/>
            <a:ext cx="9613604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6993788" y="3540282"/>
            <a:ext cx="10075012" cy="2595204"/>
          </a:xfrm>
          <a:custGeom>
            <a:avLst/>
            <a:gdLst/>
            <a:ahLst/>
            <a:cxnLst/>
            <a:rect r="r" b="b" t="t" l="l"/>
            <a:pathLst>
              <a:path h="2595204" w="10075012">
                <a:moveTo>
                  <a:pt x="0" y="0"/>
                </a:moveTo>
                <a:lnTo>
                  <a:pt x="10075012" y="0"/>
                </a:lnTo>
                <a:lnTo>
                  <a:pt x="10075012" y="2595204"/>
                </a:lnTo>
                <a:lnTo>
                  <a:pt x="0" y="259520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7" t="0" r="-17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6993788" y="6770703"/>
            <a:ext cx="10075012" cy="2595204"/>
          </a:xfrm>
          <a:custGeom>
            <a:avLst/>
            <a:gdLst/>
            <a:ahLst/>
            <a:cxnLst/>
            <a:rect r="r" b="b" t="t" l="l"/>
            <a:pathLst>
              <a:path h="2595204" w="10075012">
                <a:moveTo>
                  <a:pt x="0" y="0"/>
                </a:moveTo>
                <a:lnTo>
                  <a:pt x="10075012" y="0"/>
                </a:lnTo>
                <a:lnTo>
                  <a:pt x="10075012" y="2595204"/>
                </a:lnTo>
                <a:lnTo>
                  <a:pt x="0" y="259520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38" t="0" r="-238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7844" y="9242082"/>
            <a:ext cx="1269591" cy="62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3357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14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487435" y="1459978"/>
            <a:ext cx="7544753" cy="1086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17"/>
              </a:lnSpc>
            </a:pPr>
            <a:r>
              <a:rPr lang="en-US" sz="6896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Design Evaluation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97021" y="2461200"/>
            <a:ext cx="8171259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Who are we designing for, and what do they need to do?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673921" y="4573089"/>
            <a:ext cx="946785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Before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789054" y="7803510"/>
            <a:ext cx="716518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After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9965" y="650381"/>
            <a:ext cx="917470" cy="756638"/>
          </a:xfrm>
          <a:custGeom>
            <a:avLst/>
            <a:gdLst/>
            <a:ahLst/>
            <a:cxnLst/>
            <a:rect r="r" b="b" t="t" l="l"/>
            <a:pathLst>
              <a:path h="756638" w="917470">
                <a:moveTo>
                  <a:pt x="0" y="0"/>
                </a:moveTo>
                <a:lnTo>
                  <a:pt x="917470" y="0"/>
                </a:lnTo>
                <a:lnTo>
                  <a:pt x="917470" y="756638"/>
                </a:lnTo>
                <a:lnTo>
                  <a:pt x="0" y="7566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>
            <a:off x="1487435" y="9599490"/>
            <a:ext cx="9613604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963301" y="2546925"/>
            <a:ext cx="12361397" cy="6953286"/>
          </a:xfrm>
          <a:custGeom>
            <a:avLst/>
            <a:gdLst/>
            <a:ahLst/>
            <a:cxnLst/>
            <a:rect r="r" b="b" t="t" l="l"/>
            <a:pathLst>
              <a:path h="6953286" w="12361397">
                <a:moveTo>
                  <a:pt x="0" y="0"/>
                </a:moveTo>
                <a:lnTo>
                  <a:pt x="12361398" y="0"/>
                </a:lnTo>
                <a:lnTo>
                  <a:pt x="12361398" y="6953286"/>
                </a:lnTo>
                <a:lnTo>
                  <a:pt x="0" y="695328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7844" y="9242082"/>
            <a:ext cx="1269591" cy="62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3357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15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7435" y="1459978"/>
            <a:ext cx="10038516" cy="1086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17"/>
              </a:lnSpc>
            </a:pPr>
            <a:r>
              <a:rPr lang="en-US" sz="6896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US Air Pollution Explorer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9965" y="650381"/>
            <a:ext cx="917470" cy="756638"/>
          </a:xfrm>
          <a:custGeom>
            <a:avLst/>
            <a:gdLst/>
            <a:ahLst/>
            <a:cxnLst/>
            <a:rect r="r" b="b" t="t" l="l"/>
            <a:pathLst>
              <a:path h="756638" w="917470">
                <a:moveTo>
                  <a:pt x="0" y="0"/>
                </a:moveTo>
                <a:lnTo>
                  <a:pt x="917470" y="0"/>
                </a:lnTo>
                <a:lnTo>
                  <a:pt x="917470" y="756638"/>
                </a:lnTo>
                <a:lnTo>
                  <a:pt x="0" y="7566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>
            <a:off x="1487435" y="9599490"/>
            <a:ext cx="9613604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391101" y="3179005"/>
            <a:ext cx="17505798" cy="1269170"/>
          </a:xfrm>
          <a:custGeom>
            <a:avLst/>
            <a:gdLst/>
            <a:ahLst/>
            <a:cxnLst/>
            <a:rect r="r" b="b" t="t" l="l"/>
            <a:pathLst>
              <a:path h="1269170" w="17505798">
                <a:moveTo>
                  <a:pt x="0" y="0"/>
                </a:moveTo>
                <a:lnTo>
                  <a:pt x="17505798" y="0"/>
                </a:lnTo>
                <a:lnTo>
                  <a:pt x="17505798" y="1269170"/>
                </a:lnTo>
                <a:lnTo>
                  <a:pt x="0" y="126917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91101" y="6894060"/>
            <a:ext cx="17638743" cy="1036276"/>
          </a:xfrm>
          <a:custGeom>
            <a:avLst/>
            <a:gdLst/>
            <a:ahLst/>
            <a:cxnLst/>
            <a:rect r="r" b="b" t="t" l="l"/>
            <a:pathLst>
              <a:path h="1036276" w="17638743">
                <a:moveTo>
                  <a:pt x="0" y="0"/>
                </a:moveTo>
                <a:lnTo>
                  <a:pt x="17638744" y="0"/>
                </a:lnTo>
                <a:lnTo>
                  <a:pt x="17638744" y="1036276"/>
                </a:lnTo>
                <a:lnTo>
                  <a:pt x="0" y="103627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17844" y="9242082"/>
            <a:ext cx="1269591" cy="62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3357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15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2639" y="5105400"/>
            <a:ext cx="4083844" cy="1093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17"/>
              </a:lnSpc>
            </a:pPr>
            <a:r>
              <a:rPr lang="en-US" sz="6896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KPI Cards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79555" y="1641978"/>
            <a:ext cx="6581775" cy="1093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17"/>
              </a:lnSpc>
            </a:pPr>
            <a:r>
              <a:rPr lang="en-US" sz="6896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Header + Filters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9965" y="650381"/>
            <a:ext cx="917470" cy="756638"/>
          </a:xfrm>
          <a:custGeom>
            <a:avLst/>
            <a:gdLst/>
            <a:ahLst/>
            <a:cxnLst/>
            <a:rect r="r" b="b" t="t" l="l"/>
            <a:pathLst>
              <a:path h="756638" w="917470">
                <a:moveTo>
                  <a:pt x="0" y="0"/>
                </a:moveTo>
                <a:lnTo>
                  <a:pt x="917470" y="0"/>
                </a:lnTo>
                <a:lnTo>
                  <a:pt x="917470" y="756638"/>
                </a:lnTo>
                <a:lnTo>
                  <a:pt x="0" y="7566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>
            <a:off x="1487435" y="9599490"/>
            <a:ext cx="9613604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139100" y="3180761"/>
            <a:ext cx="14009800" cy="5341236"/>
          </a:xfrm>
          <a:custGeom>
            <a:avLst/>
            <a:gdLst/>
            <a:ahLst/>
            <a:cxnLst/>
            <a:rect r="r" b="b" t="t" l="l"/>
            <a:pathLst>
              <a:path h="5341236" w="14009800">
                <a:moveTo>
                  <a:pt x="0" y="0"/>
                </a:moveTo>
                <a:lnTo>
                  <a:pt x="14009800" y="0"/>
                </a:lnTo>
                <a:lnTo>
                  <a:pt x="14009800" y="5341236"/>
                </a:lnTo>
                <a:lnTo>
                  <a:pt x="0" y="534123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7844" y="9242082"/>
            <a:ext cx="1269591" cy="62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3357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15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7435" y="1459978"/>
            <a:ext cx="7065863" cy="1093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17"/>
              </a:lnSpc>
            </a:pPr>
            <a:r>
              <a:rPr lang="en-US" sz="6896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US Pollution Map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9965" y="650381"/>
            <a:ext cx="917470" cy="756638"/>
          </a:xfrm>
          <a:custGeom>
            <a:avLst/>
            <a:gdLst/>
            <a:ahLst/>
            <a:cxnLst/>
            <a:rect r="r" b="b" t="t" l="l"/>
            <a:pathLst>
              <a:path h="756638" w="917470">
                <a:moveTo>
                  <a:pt x="0" y="0"/>
                </a:moveTo>
                <a:lnTo>
                  <a:pt x="917470" y="0"/>
                </a:lnTo>
                <a:lnTo>
                  <a:pt x="917470" y="756638"/>
                </a:lnTo>
                <a:lnTo>
                  <a:pt x="0" y="7566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>
            <a:off x="1487435" y="9599490"/>
            <a:ext cx="9613604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3382142" y="2755571"/>
            <a:ext cx="10342312" cy="6502729"/>
          </a:xfrm>
          <a:custGeom>
            <a:avLst/>
            <a:gdLst/>
            <a:ahLst/>
            <a:cxnLst/>
            <a:rect r="r" b="b" t="t" l="l"/>
            <a:pathLst>
              <a:path h="6502729" w="10342312">
                <a:moveTo>
                  <a:pt x="0" y="0"/>
                </a:moveTo>
                <a:lnTo>
                  <a:pt x="10342313" y="0"/>
                </a:lnTo>
                <a:lnTo>
                  <a:pt x="10342313" y="6502729"/>
                </a:lnTo>
                <a:lnTo>
                  <a:pt x="0" y="65027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7844" y="9242082"/>
            <a:ext cx="1269591" cy="62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3357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15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7435" y="1459978"/>
            <a:ext cx="7085211" cy="1093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17"/>
              </a:lnSpc>
            </a:pPr>
            <a:r>
              <a:rPr lang="en-US" sz="6896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Trend Over Time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9965" y="650381"/>
            <a:ext cx="917470" cy="756638"/>
          </a:xfrm>
          <a:custGeom>
            <a:avLst/>
            <a:gdLst/>
            <a:ahLst/>
            <a:cxnLst/>
            <a:rect r="r" b="b" t="t" l="l"/>
            <a:pathLst>
              <a:path h="756638" w="917470">
                <a:moveTo>
                  <a:pt x="0" y="0"/>
                </a:moveTo>
                <a:lnTo>
                  <a:pt x="917470" y="0"/>
                </a:lnTo>
                <a:lnTo>
                  <a:pt x="917470" y="756638"/>
                </a:lnTo>
                <a:lnTo>
                  <a:pt x="0" y="7566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>
            <a:off x="1487435" y="9599490"/>
            <a:ext cx="9613604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3515515" y="3033008"/>
            <a:ext cx="11256970" cy="6072462"/>
          </a:xfrm>
          <a:custGeom>
            <a:avLst/>
            <a:gdLst/>
            <a:ahLst/>
            <a:cxnLst/>
            <a:rect r="r" b="b" t="t" l="l"/>
            <a:pathLst>
              <a:path h="6072462" w="11256970">
                <a:moveTo>
                  <a:pt x="0" y="0"/>
                </a:moveTo>
                <a:lnTo>
                  <a:pt x="11256970" y="0"/>
                </a:lnTo>
                <a:lnTo>
                  <a:pt x="11256970" y="6072462"/>
                </a:lnTo>
                <a:lnTo>
                  <a:pt x="0" y="607246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7844" y="9242082"/>
            <a:ext cx="1269591" cy="62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3357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15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7435" y="1459978"/>
            <a:ext cx="6552704" cy="1093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17"/>
              </a:lnSpc>
            </a:pPr>
            <a:r>
              <a:rPr lang="en-US" sz="6896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State Summary</a:t>
            </a:r>
          </a:p>
        </p:txBody>
      </p:sp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9965" y="650381"/>
            <a:ext cx="917470" cy="756638"/>
          </a:xfrm>
          <a:custGeom>
            <a:avLst/>
            <a:gdLst/>
            <a:ahLst/>
            <a:cxnLst/>
            <a:rect r="r" b="b" t="t" l="l"/>
            <a:pathLst>
              <a:path h="756638" w="917470">
                <a:moveTo>
                  <a:pt x="0" y="0"/>
                </a:moveTo>
                <a:lnTo>
                  <a:pt x="917470" y="0"/>
                </a:lnTo>
                <a:lnTo>
                  <a:pt x="917470" y="756638"/>
                </a:lnTo>
                <a:lnTo>
                  <a:pt x="0" y="7566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>
            <a:off x="1487435" y="9599490"/>
            <a:ext cx="9613604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098289" y="3696116"/>
            <a:ext cx="14091421" cy="3734904"/>
          </a:xfrm>
          <a:custGeom>
            <a:avLst/>
            <a:gdLst/>
            <a:ahLst/>
            <a:cxnLst/>
            <a:rect r="r" b="b" t="t" l="l"/>
            <a:pathLst>
              <a:path h="3734904" w="14091421">
                <a:moveTo>
                  <a:pt x="0" y="0"/>
                </a:moveTo>
                <a:lnTo>
                  <a:pt x="14091422" y="0"/>
                </a:lnTo>
                <a:lnTo>
                  <a:pt x="14091422" y="3734903"/>
                </a:lnTo>
                <a:lnTo>
                  <a:pt x="0" y="373490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485" t="0" r="-485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7844" y="9242082"/>
            <a:ext cx="1269591" cy="62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3357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15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7435" y="1459978"/>
            <a:ext cx="11106051" cy="1093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17"/>
              </a:lnSpc>
            </a:pPr>
            <a:r>
              <a:rPr lang="en-US" sz="6896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Top 10 Most Polluted Cities</a:t>
            </a:r>
          </a:p>
        </p:txBody>
      </p:sp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9965" y="650381"/>
            <a:ext cx="917470" cy="756638"/>
          </a:xfrm>
          <a:custGeom>
            <a:avLst/>
            <a:gdLst/>
            <a:ahLst/>
            <a:cxnLst/>
            <a:rect r="r" b="b" t="t" l="l"/>
            <a:pathLst>
              <a:path h="756638" w="917470">
                <a:moveTo>
                  <a:pt x="0" y="0"/>
                </a:moveTo>
                <a:lnTo>
                  <a:pt x="917470" y="0"/>
                </a:lnTo>
                <a:lnTo>
                  <a:pt x="917470" y="756638"/>
                </a:lnTo>
                <a:lnTo>
                  <a:pt x="0" y="7566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>
            <a:off x="1487435" y="9599490"/>
            <a:ext cx="9613604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2768074" y="2882374"/>
            <a:ext cx="12751852" cy="6375926"/>
          </a:xfrm>
          <a:custGeom>
            <a:avLst/>
            <a:gdLst/>
            <a:ahLst/>
            <a:cxnLst/>
            <a:rect r="r" b="b" t="t" l="l"/>
            <a:pathLst>
              <a:path h="6375926" w="12751852">
                <a:moveTo>
                  <a:pt x="0" y="0"/>
                </a:moveTo>
                <a:lnTo>
                  <a:pt x="12751852" y="0"/>
                </a:lnTo>
                <a:lnTo>
                  <a:pt x="12751852" y="6375926"/>
                </a:lnTo>
                <a:lnTo>
                  <a:pt x="0" y="6375926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7844" y="9242082"/>
            <a:ext cx="1269591" cy="62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3357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15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7435" y="1459978"/>
            <a:ext cx="5170091" cy="1093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17"/>
              </a:lnSpc>
            </a:pPr>
            <a:r>
              <a:rPr lang="en-US" sz="6896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State Profile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7059115" y="1603615"/>
            <a:ext cx="8083848" cy="8155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664"/>
              </a:lnSpc>
            </a:pPr>
            <a:r>
              <a:rPr lang="en-US" sz="5196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(secondary analysis view)</a:t>
            </a:r>
          </a:p>
        </p:txBody>
      </p:sp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9965" y="650381"/>
            <a:ext cx="917470" cy="756638"/>
          </a:xfrm>
          <a:custGeom>
            <a:avLst/>
            <a:gdLst/>
            <a:ahLst/>
            <a:cxnLst/>
            <a:rect r="r" b="b" t="t" l="l"/>
            <a:pathLst>
              <a:path h="756638" w="917470">
                <a:moveTo>
                  <a:pt x="0" y="0"/>
                </a:moveTo>
                <a:lnTo>
                  <a:pt x="917470" y="0"/>
                </a:lnTo>
                <a:lnTo>
                  <a:pt x="917470" y="756638"/>
                </a:lnTo>
                <a:lnTo>
                  <a:pt x="0" y="7566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>
            <a:off x="1487435" y="9599490"/>
            <a:ext cx="9613604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984595" y="3441429"/>
            <a:ext cx="16274705" cy="4109363"/>
          </a:xfrm>
          <a:custGeom>
            <a:avLst/>
            <a:gdLst/>
            <a:ahLst/>
            <a:cxnLst/>
            <a:rect r="r" b="b" t="t" l="l"/>
            <a:pathLst>
              <a:path h="4109363" w="16274705">
                <a:moveTo>
                  <a:pt x="0" y="0"/>
                </a:moveTo>
                <a:lnTo>
                  <a:pt x="16274705" y="0"/>
                </a:lnTo>
                <a:lnTo>
                  <a:pt x="16274705" y="4109363"/>
                </a:lnTo>
                <a:lnTo>
                  <a:pt x="0" y="41093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17844" y="9242082"/>
            <a:ext cx="1269591" cy="62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3357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15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487435" y="1459978"/>
            <a:ext cx="6455172" cy="1093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17"/>
              </a:lnSpc>
            </a:pPr>
            <a:r>
              <a:rPr lang="en-US" sz="6896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Compare Mode</a:t>
            </a:r>
          </a:p>
        </p:txBody>
      </p:sp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9965" y="650381"/>
            <a:ext cx="917470" cy="756638"/>
          </a:xfrm>
          <a:custGeom>
            <a:avLst/>
            <a:gdLst/>
            <a:ahLst/>
            <a:cxnLst/>
            <a:rect r="r" b="b" t="t" l="l"/>
            <a:pathLst>
              <a:path h="756638" w="917470">
                <a:moveTo>
                  <a:pt x="0" y="0"/>
                </a:moveTo>
                <a:lnTo>
                  <a:pt x="917470" y="0"/>
                </a:lnTo>
                <a:lnTo>
                  <a:pt x="917470" y="756638"/>
                </a:lnTo>
                <a:lnTo>
                  <a:pt x="0" y="7566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>
            <a:off x="1487435" y="9599490"/>
            <a:ext cx="9613604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217844" y="9242082"/>
            <a:ext cx="1269591" cy="62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3357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15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5042105" y="4422203"/>
            <a:ext cx="7554714" cy="10932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17"/>
              </a:lnSpc>
            </a:pPr>
            <a:r>
              <a:rPr lang="en-US" sz="6896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 Simulation mode </a:t>
            </a:r>
          </a:p>
        </p:txBody>
      </p:sp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569965" y="650381"/>
            <a:ext cx="917470" cy="756638"/>
          </a:xfrm>
          <a:custGeom>
            <a:avLst/>
            <a:gdLst/>
            <a:ahLst/>
            <a:cxnLst/>
            <a:rect r="r" b="b" t="t" l="l"/>
            <a:pathLst>
              <a:path h="756638" w="917470">
                <a:moveTo>
                  <a:pt x="0" y="0"/>
                </a:moveTo>
                <a:lnTo>
                  <a:pt x="917470" y="0"/>
                </a:lnTo>
                <a:lnTo>
                  <a:pt x="917470" y="756638"/>
                </a:lnTo>
                <a:lnTo>
                  <a:pt x="0" y="7566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3" id="3"/>
          <p:cNvSpPr/>
          <p:nvPr/>
        </p:nvSpPr>
        <p:spPr>
          <a:xfrm flipH="true">
            <a:off x="1487435" y="9599490"/>
            <a:ext cx="9613604" cy="0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217844" y="9242082"/>
            <a:ext cx="1269591" cy="629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3357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16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487435" y="1459978"/>
            <a:ext cx="11552396" cy="10869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517"/>
              </a:lnSpc>
            </a:pPr>
            <a:r>
              <a:rPr lang="en-US" sz="6896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Limitations and future work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97021" y="2461200"/>
            <a:ext cx="8171259" cy="443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Who are we designing for, and what do they need to do?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379161" y="4273816"/>
            <a:ext cx="11816478" cy="25393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S</a:t>
            </a: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ome AQI gaps remain.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State-level aggregation hides within-state differences.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City rankings are based on monitoring observations, not population exposure.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More complete EPA AQI files would improve data completeness.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Future deployment could make the dashboard easier to access.</a:t>
            </a:r>
          </a:p>
          <a:p>
            <a:pPr algn="l" marL="518160" indent="-259080" lvl="1">
              <a:lnSpc>
                <a:spcPts val="3359"/>
              </a:lnSpc>
              <a:buFont typeface="Arial"/>
              <a:buChar char="•"/>
            </a:pPr>
            <a:r>
              <a:rPr lang="en-US" sz="2400">
                <a:solidFill>
                  <a:srgbClr val="000000"/>
                </a:solidFill>
                <a:latin typeface="Codec Pro"/>
                <a:ea typeface="Codec Pro"/>
                <a:cs typeface="Codec Pro"/>
                <a:sym typeface="Codec Pro"/>
              </a:rPr>
              <a:t>More user evaluation would strengthen the conclusions. </a:t>
            </a:r>
          </a:p>
        </p:txBody>
      </p:sp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9673927" cy="10708316"/>
            <a:chOff x="0" y="0"/>
            <a:chExt cx="2547865" cy="28202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547865" cy="2820297"/>
            </a:xfrm>
            <a:custGeom>
              <a:avLst/>
              <a:gdLst/>
              <a:ahLst/>
              <a:cxnLst/>
              <a:rect r="r" b="b" t="t" l="l"/>
              <a:pathLst>
                <a:path h="2820297" w="2547865">
                  <a:moveTo>
                    <a:pt x="0" y="0"/>
                  </a:moveTo>
                  <a:lnTo>
                    <a:pt x="2547865" y="0"/>
                  </a:lnTo>
                  <a:lnTo>
                    <a:pt x="2547865" y="2820297"/>
                  </a:lnTo>
                  <a:lnTo>
                    <a:pt x="0" y="2820297"/>
                  </a:lnTo>
                  <a:close/>
                </a:path>
              </a:pathLst>
            </a:custGeom>
            <a:solidFill>
              <a:srgbClr val="82C2E6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547865" cy="28583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77047" y="7128324"/>
            <a:ext cx="15662715" cy="2721397"/>
          </a:xfrm>
          <a:custGeom>
            <a:avLst/>
            <a:gdLst/>
            <a:ahLst/>
            <a:cxnLst/>
            <a:rect r="r" b="b" t="t" l="l"/>
            <a:pathLst>
              <a:path h="2721397" w="15662715">
                <a:moveTo>
                  <a:pt x="0" y="0"/>
                </a:moveTo>
                <a:lnTo>
                  <a:pt x="15662715" y="0"/>
                </a:lnTo>
                <a:lnTo>
                  <a:pt x="15662715" y="2721397"/>
                </a:lnTo>
                <a:lnTo>
                  <a:pt x="0" y="27213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6000"/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2277501" y="1559018"/>
            <a:ext cx="14603525" cy="7168964"/>
            <a:chOff x="0" y="0"/>
            <a:chExt cx="5233574" cy="256919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5233574" cy="2569195"/>
            </a:xfrm>
            <a:custGeom>
              <a:avLst/>
              <a:gdLst/>
              <a:ahLst/>
              <a:cxnLst/>
              <a:rect r="r" b="b" t="t" l="l"/>
              <a:pathLst>
                <a:path h="2569195" w="5233574">
                  <a:moveTo>
                    <a:pt x="29688" y="0"/>
                  </a:moveTo>
                  <a:lnTo>
                    <a:pt x="5203886" y="0"/>
                  </a:lnTo>
                  <a:cubicBezTo>
                    <a:pt x="5220282" y="0"/>
                    <a:pt x="5233574" y="13292"/>
                    <a:pt x="5233574" y="29688"/>
                  </a:cubicBezTo>
                  <a:lnTo>
                    <a:pt x="5233574" y="2539507"/>
                  </a:lnTo>
                  <a:cubicBezTo>
                    <a:pt x="5233574" y="2547381"/>
                    <a:pt x="5230446" y="2554932"/>
                    <a:pt x="5224879" y="2560500"/>
                  </a:cubicBezTo>
                  <a:cubicBezTo>
                    <a:pt x="5219311" y="2566067"/>
                    <a:pt x="5211760" y="2569195"/>
                    <a:pt x="5203886" y="2569195"/>
                  </a:cubicBezTo>
                  <a:lnTo>
                    <a:pt x="29688" y="2569195"/>
                  </a:lnTo>
                  <a:cubicBezTo>
                    <a:pt x="21814" y="2569195"/>
                    <a:pt x="14263" y="2566067"/>
                    <a:pt x="8695" y="2560500"/>
                  </a:cubicBezTo>
                  <a:cubicBezTo>
                    <a:pt x="3128" y="2554932"/>
                    <a:pt x="0" y="2547381"/>
                    <a:pt x="0" y="2539507"/>
                  </a:cubicBezTo>
                  <a:lnTo>
                    <a:pt x="0" y="29688"/>
                  </a:lnTo>
                  <a:cubicBezTo>
                    <a:pt x="0" y="21814"/>
                    <a:pt x="3128" y="14263"/>
                    <a:pt x="8695" y="8695"/>
                  </a:cubicBezTo>
                  <a:cubicBezTo>
                    <a:pt x="14263" y="3128"/>
                    <a:pt x="21814" y="0"/>
                    <a:pt x="29688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5233574" cy="261682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852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6587827" y="1559018"/>
            <a:ext cx="3086100" cy="7168964"/>
            <a:chOff x="0" y="0"/>
            <a:chExt cx="812800" cy="188812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1888122"/>
            </a:xfrm>
            <a:custGeom>
              <a:avLst/>
              <a:gdLst/>
              <a:ahLst/>
              <a:cxnLst/>
              <a:rect r="r" b="b" t="t" l="l"/>
              <a:pathLst>
                <a:path h="1888122" w="812800">
                  <a:moveTo>
                    <a:pt x="0" y="0"/>
                  </a:moveTo>
                  <a:lnTo>
                    <a:pt x="812800" y="0"/>
                  </a:lnTo>
                  <a:lnTo>
                    <a:pt x="812800" y="1888122"/>
                  </a:lnTo>
                  <a:lnTo>
                    <a:pt x="0" y="1888122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812800" cy="192622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6881027" y="671982"/>
            <a:ext cx="917470" cy="756638"/>
          </a:xfrm>
          <a:custGeom>
            <a:avLst/>
            <a:gdLst/>
            <a:ahLst/>
            <a:cxnLst/>
            <a:rect r="r" b="b" t="t" l="l"/>
            <a:pathLst>
              <a:path h="756638" w="917470">
                <a:moveTo>
                  <a:pt x="0" y="0"/>
                </a:moveTo>
                <a:lnTo>
                  <a:pt x="917470" y="0"/>
                </a:lnTo>
                <a:lnTo>
                  <a:pt x="917470" y="756638"/>
                </a:lnTo>
                <a:lnTo>
                  <a:pt x="0" y="7566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3" id="13"/>
          <p:cNvSpPr/>
          <p:nvPr/>
        </p:nvSpPr>
        <p:spPr>
          <a:xfrm flipH="true" flipV="true">
            <a:off x="2800793" y="2246683"/>
            <a:ext cx="0" cy="5540773"/>
          </a:xfrm>
          <a:prstGeom prst="line">
            <a:avLst/>
          </a:prstGeom>
          <a:ln cap="flat" w="2857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4032557" y="3147479"/>
            <a:ext cx="11282739" cy="3607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71"/>
              </a:lnSpc>
            </a:pPr>
            <a:r>
              <a:rPr lang="en-US" sz="12267" b="true">
                <a:solidFill>
                  <a:srgbClr val="000000"/>
                </a:solidFill>
                <a:latin typeface="Codec Pro Bold"/>
                <a:ea typeface="Codec Pro Bold"/>
                <a:cs typeface="Codec Pro Bold"/>
                <a:sym typeface="Codec Pro Bold"/>
              </a:rPr>
              <a:t>Thanks for your 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DAHKHsARL20</dc:identifier>
  <dcterms:modified xsi:type="dcterms:W3CDTF">2011-08-01T06:04:30Z</dcterms:modified>
  <cp:revision>1</cp:revision>
  <dc:title>Final Presentation Information Visualisation</dc:title>
</cp:coreProperties>
</file>